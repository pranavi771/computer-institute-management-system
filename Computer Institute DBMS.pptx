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Inter Medium" charset="1" panose="02000503000000020004"/>
      <p:regular r:id="rId17"/>
    </p:embeddedFont>
    <p:embeddedFont>
      <p:font typeface="Inter" charset="1" panose="020B0502030000000004"/>
      <p:regular r:id="rId18"/>
    </p:embeddedFont>
    <p:embeddedFont>
      <p:font typeface="Inter Semi-Bold" charset="1" panose="02000503000000020004"/>
      <p:regular r:id="rId19"/>
    </p:embeddedFont>
    <p:embeddedFont>
      <p:font typeface="Inter Ultra-Bold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20" Target="../media/image44.png" Type="http://schemas.openxmlformats.org/officeDocument/2006/relationships/image"/><Relationship Id="rId21" Target="../media/image45.png" Type="http://schemas.openxmlformats.org/officeDocument/2006/relationships/image"/><Relationship Id="rId22" Target="../media/image46.png" Type="http://schemas.openxmlformats.org/officeDocument/2006/relationships/image"/><Relationship Id="rId23" Target="../media/image47.png" Type="http://schemas.openxmlformats.org/officeDocument/2006/relationships/image"/><Relationship Id="rId24" Target="../media/image48.png" Type="http://schemas.openxmlformats.org/officeDocument/2006/relationships/image"/><Relationship Id="rId25" Target="../media/image49.png" Type="http://schemas.openxmlformats.org/officeDocument/2006/relationships/image"/><Relationship Id="rId26" Target="../media/image50.png" Type="http://schemas.openxmlformats.org/officeDocument/2006/relationships/image"/><Relationship Id="rId27" Target="../media/image51.png" Type="http://schemas.openxmlformats.org/officeDocument/2006/relationships/image"/><Relationship Id="rId28" Target="../media/image52.png" Type="http://schemas.openxmlformats.org/officeDocument/2006/relationships/image"/><Relationship Id="rId29" Target="../media/image53.png" Type="http://schemas.openxmlformats.org/officeDocument/2006/relationships/image"/><Relationship Id="rId3" Target="../media/image27.png" Type="http://schemas.openxmlformats.org/officeDocument/2006/relationships/image"/><Relationship Id="rId30" Target="../media/image54.png" Type="http://schemas.openxmlformats.org/officeDocument/2006/relationships/image"/><Relationship Id="rId31" Target="../media/image55.png" Type="http://schemas.openxmlformats.org/officeDocument/2006/relationships/image"/><Relationship Id="rId32" Target="../media/image56.png" Type="http://schemas.openxmlformats.org/officeDocument/2006/relationships/image"/><Relationship Id="rId33" Target="../media/image5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17" Target="../media/image73.png" Type="http://schemas.openxmlformats.org/officeDocument/2006/relationships/image"/><Relationship Id="rId18" Target="../media/image74.png" Type="http://schemas.openxmlformats.org/officeDocument/2006/relationships/image"/><Relationship Id="rId19" Target="../media/image75.png" Type="http://schemas.openxmlformats.org/officeDocument/2006/relationships/image"/><Relationship Id="rId2" Target="../media/image58.png" Type="http://schemas.openxmlformats.org/officeDocument/2006/relationships/image"/><Relationship Id="rId20" Target="../media/image76.png" Type="http://schemas.openxmlformats.org/officeDocument/2006/relationships/image"/><Relationship Id="rId21" Target="../media/image77.png" Type="http://schemas.openxmlformats.org/officeDocument/2006/relationships/image"/><Relationship Id="rId22" Target="../media/image78.png" Type="http://schemas.openxmlformats.org/officeDocument/2006/relationships/image"/><Relationship Id="rId23" Target="../media/image79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90.png" Type="http://schemas.openxmlformats.org/officeDocument/2006/relationships/image"/><Relationship Id="rId13" Target="../media/image91.png" Type="http://schemas.openxmlformats.org/officeDocument/2006/relationships/image"/><Relationship Id="rId14" Target="../media/image92.png" Type="http://schemas.openxmlformats.org/officeDocument/2006/relationships/image"/><Relationship Id="rId15" Target="../media/image93.png" Type="http://schemas.openxmlformats.org/officeDocument/2006/relationships/image"/><Relationship Id="rId16" Target="../media/image94.png" Type="http://schemas.openxmlformats.org/officeDocument/2006/relationships/image"/><Relationship Id="rId17" Target="../media/image95.png" Type="http://schemas.openxmlformats.org/officeDocument/2006/relationships/image"/><Relationship Id="rId18" Target="../media/image96.png" Type="http://schemas.openxmlformats.org/officeDocument/2006/relationships/image"/><Relationship Id="rId19" Target="../media/image97.png" Type="http://schemas.openxmlformats.org/officeDocument/2006/relationships/image"/><Relationship Id="rId2" Target="../media/image80.png" Type="http://schemas.openxmlformats.org/officeDocument/2006/relationships/image"/><Relationship Id="rId20" Target="../media/image98.png" Type="http://schemas.openxmlformats.org/officeDocument/2006/relationships/image"/><Relationship Id="rId21" Target="../media/image99.png" Type="http://schemas.openxmlformats.org/officeDocument/2006/relationships/image"/><Relationship Id="rId22" Target="../media/image100.png" Type="http://schemas.openxmlformats.org/officeDocument/2006/relationships/image"/><Relationship Id="rId23" Target="../media/image101.png" Type="http://schemas.openxmlformats.org/officeDocument/2006/relationships/image"/><Relationship Id="rId24" Target="../media/image102.png" Type="http://schemas.openxmlformats.org/officeDocument/2006/relationships/image"/><Relationship Id="rId25" Target="../media/image103.png" Type="http://schemas.openxmlformats.org/officeDocument/2006/relationships/image"/><Relationship Id="rId3" Target="../media/image81.png" Type="http://schemas.openxmlformats.org/officeDocument/2006/relationships/image"/><Relationship Id="rId4" Target="../media/image82.png" Type="http://schemas.openxmlformats.org/officeDocument/2006/relationships/image"/><Relationship Id="rId5" Target="../media/image83.pn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113.png" Type="http://schemas.openxmlformats.org/officeDocument/2006/relationships/image"/><Relationship Id="rId12" Target="../media/image114.png" Type="http://schemas.openxmlformats.org/officeDocument/2006/relationships/image"/><Relationship Id="rId13" Target="../media/image115.png" Type="http://schemas.openxmlformats.org/officeDocument/2006/relationships/image"/><Relationship Id="rId14" Target="../media/image116.png" Type="http://schemas.openxmlformats.org/officeDocument/2006/relationships/image"/><Relationship Id="rId15" Target="../media/image117.png" Type="http://schemas.openxmlformats.org/officeDocument/2006/relationships/image"/><Relationship Id="rId16" Target="../media/image118.png" Type="http://schemas.openxmlformats.org/officeDocument/2006/relationships/image"/><Relationship Id="rId17" Target="../media/image119.png" Type="http://schemas.openxmlformats.org/officeDocument/2006/relationships/image"/><Relationship Id="rId18" Target="../media/image120.png" Type="http://schemas.openxmlformats.org/officeDocument/2006/relationships/image"/><Relationship Id="rId19" Target="../media/image121.png" Type="http://schemas.openxmlformats.org/officeDocument/2006/relationships/image"/><Relationship Id="rId2" Target="../media/image104.png" Type="http://schemas.openxmlformats.org/officeDocument/2006/relationships/image"/><Relationship Id="rId20" Target="../media/image122.png" Type="http://schemas.openxmlformats.org/officeDocument/2006/relationships/image"/><Relationship Id="rId21" Target="../media/image123.png" Type="http://schemas.openxmlformats.org/officeDocument/2006/relationships/image"/><Relationship Id="rId22" Target="../media/image124.png" Type="http://schemas.openxmlformats.org/officeDocument/2006/relationships/image"/><Relationship Id="rId23" Target="../media/image125.png" Type="http://schemas.openxmlformats.org/officeDocument/2006/relationships/image"/><Relationship Id="rId24" Target="../media/image126.png" Type="http://schemas.openxmlformats.org/officeDocument/2006/relationships/image"/><Relationship Id="rId25" Target="../media/image127.png" Type="http://schemas.openxmlformats.org/officeDocument/2006/relationships/image"/><Relationship Id="rId26" Target="../media/image128.png" Type="http://schemas.openxmlformats.org/officeDocument/2006/relationships/image"/><Relationship Id="rId27" Target="../media/image129.png" Type="http://schemas.openxmlformats.org/officeDocument/2006/relationships/image"/><Relationship Id="rId28" Target="../media/image130.png" Type="http://schemas.openxmlformats.org/officeDocument/2006/relationships/image"/><Relationship Id="rId29" Target="../media/image131.png" Type="http://schemas.openxmlformats.org/officeDocument/2006/relationships/image"/><Relationship Id="rId3" Target="../media/image105.png" Type="http://schemas.openxmlformats.org/officeDocument/2006/relationships/image"/><Relationship Id="rId30" Target="../media/image132.png" Type="http://schemas.openxmlformats.org/officeDocument/2006/relationships/image"/><Relationship Id="rId4" Target="../media/image106.png" Type="http://schemas.openxmlformats.org/officeDocument/2006/relationships/image"/><Relationship Id="rId5" Target="../media/image107.png" Type="http://schemas.openxmlformats.org/officeDocument/2006/relationships/image"/><Relationship Id="rId6" Target="../media/image108.png" Type="http://schemas.openxmlformats.org/officeDocument/2006/relationships/image"/><Relationship Id="rId7" Target="../media/image109.png" Type="http://schemas.openxmlformats.org/officeDocument/2006/relationships/image"/><Relationship Id="rId8" Target="../media/image110.pn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142.png" Type="http://schemas.openxmlformats.org/officeDocument/2006/relationships/image"/><Relationship Id="rId2" Target="../media/image133.png" Type="http://schemas.openxmlformats.org/officeDocument/2006/relationships/image"/><Relationship Id="rId3" Target="../media/image134.png" Type="http://schemas.openxmlformats.org/officeDocument/2006/relationships/image"/><Relationship Id="rId4" Target="../media/image135.png" Type="http://schemas.openxmlformats.org/officeDocument/2006/relationships/image"/><Relationship Id="rId5" Target="../media/image136.png" Type="http://schemas.openxmlformats.org/officeDocument/2006/relationships/image"/><Relationship Id="rId6" Target="../media/image137.png" Type="http://schemas.openxmlformats.org/officeDocument/2006/relationships/image"/><Relationship Id="rId7" Target="../media/image138.png" Type="http://schemas.openxmlformats.org/officeDocument/2006/relationships/image"/><Relationship Id="rId8" Target="../media/image139.pn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1.png" Type="http://schemas.openxmlformats.org/officeDocument/2006/relationships/image"/><Relationship Id="rId2" Target="../media/image143.png" Type="http://schemas.openxmlformats.org/officeDocument/2006/relationships/image"/><Relationship Id="rId3" Target="../media/image144.png" Type="http://schemas.openxmlformats.org/officeDocument/2006/relationships/image"/><Relationship Id="rId4" Target="../media/image145.png" Type="http://schemas.openxmlformats.org/officeDocument/2006/relationships/image"/><Relationship Id="rId5" Target="../media/image146.png" Type="http://schemas.openxmlformats.org/officeDocument/2006/relationships/image"/><Relationship Id="rId6" Target="../media/image147.png" Type="http://schemas.openxmlformats.org/officeDocument/2006/relationships/image"/><Relationship Id="rId7" Target="../media/image148.png" Type="http://schemas.openxmlformats.org/officeDocument/2006/relationships/image"/><Relationship Id="rId8" Target="../media/image149.png" Type="http://schemas.openxmlformats.org/officeDocument/2006/relationships/image"/><Relationship Id="rId9" Target="../media/image1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0.png" Type="http://schemas.openxmlformats.org/officeDocument/2006/relationships/image"/><Relationship Id="rId11" Target="../media/image161.png" Type="http://schemas.openxmlformats.org/officeDocument/2006/relationships/image"/><Relationship Id="rId12" Target="../media/image162.png" Type="http://schemas.openxmlformats.org/officeDocument/2006/relationships/image"/><Relationship Id="rId2" Target="../media/image152.png" Type="http://schemas.openxmlformats.org/officeDocument/2006/relationships/image"/><Relationship Id="rId3" Target="../media/image153.png" Type="http://schemas.openxmlformats.org/officeDocument/2006/relationships/image"/><Relationship Id="rId4" Target="../media/image154.png" Type="http://schemas.openxmlformats.org/officeDocument/2006/relationships/image"/><Relationship Id="rId5" Target="../media/image155.png" Type="http://schemas.openxmlformats.org/officeDocument/2006/relationships/image"/><Relationship Id="rId6" Target="../media/image156.png" Type="http://schemas.openxmlformats.org/officeDocument/2006/relationships/image"/><Relationship Id="rId7" Target="../media/image157.png" Type="http://schemas.openxmlformats.org/officeDocument/2006/relationships/image"/><Relationship Id="rId8" Target="../media/image158.png" Type="http://schemas.openxmlformats.org/officeDocument/2006/relationships/image"/><Relationship Id="rId9" Target="../media/image1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291635"/>
            <a:ext cx="18288000" cy="3006296"/>
          </a:xfrm>
          <a:custGeom>
            <a:avLst/>
            <a:gdLst/>
            <a:ahLst/>
            <a:cxnLst/>
            <a:rect r="r" b="b" t="t" l="l"/>
            <a:pathLst>
              <a:path h="3006296" w="18288000">
                <a:moveTo>
                  <a:pt x="0" y="0"/>
                </a:moveTo>
                <a:lnTo>
                  <a:pt x="18288000" y="0"/>
                </a:lnTo>
                <a:lnTo>
                  <a:pt x="18288000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086" y="5990729"/>
            <a:ext cx="3062584" cy="229572"/>
          </a:xfrm>
          <a:custGeom>
            <a:avLst/>
            <a:gdLst/>
            <a:ahLst/>
            <a:cxnLst/>
            <a:rect r="r" b="b" t="t" l="l"/>
            <a:pathLst>
              <a:path h="229572" w="3062584">
                <a:moveTo>
                  <a:pt x="0" y="0"/>
                </a:moveTo>
                <a:lnTo>
                  <a:pt x="3062584" y="0"/>
                </a:lnTo>
                <a:lnTo>
                  <a:pt x="3062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1818" y="1924030"/>
            <a:ext cx="8290852" cy="5367606"/>
          </a:xfrm>
          <a:custGeom>
            <a:avLst/>
            <a:gdLst/>
            <a:ahLst/>
            <a:cxnLst/>
            <a:rect r="r" b="b" t="t" l="l"/>
            <a:pathLst>
              <a:path h="5367606" w="8290852">
                <a:moveTo>
                  <a:pt x="0" y="0"/>
                </a:moveTo>
                <a:lnTo>
                  <a:pt x="8290852" y="0"/>
                </a:lnTo>
                <a:lnTo>
                  <a:pt x="829085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6706" y="6439376"/>
            <a:ext cx="7506724" cy="1929650"/>
            <a:chOff x="0" y="0"/>
            <a:chExt cx="1977080" cy="5082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7080" cy="508221"/>
            </a:xfrm>
            <a:custGeom>
              <a:avLst/>
              <a:gdLst/>
              <a:ahLst/>
              <a:cxnLst/>
              <a:rect r="r" b="b" t="t" l="l"/>
              <a:pathLst>
                <a:path h="508221" w="1977080">
                  <a:moveTo>
                    <a:pt x="52598" y="0"/>
                  </a:moveTo>
                  <a:lnTo>
                    <a:pt x="1924482" y="0"/>
                  </a:lnTo>
                  <a:cubicBezTo>
                    <a:pt x="1938431" y="0"/>
                    <a:pt x="1951810" y="5542"/>
                    <a:pt x="1961674" y="15406"/>
                  </a:cubicBezTo>
                  <a:cubicBezTo>
                    <a:pt x="1971538" y="25270"/>
                    <a:pt x="1977080" y="38648"/>
                    <a:pt x="1977080" y="52598"/>
                  </a:cubicBezTo>
                  <a:lnTo>
                    <a:pt x="1977080" y="455623"/>
                  </a:lnTo>
                  <a:cubicBezTo>
                    <a:pt x="1977080" y="484672"/>
                    <a:pt x="1953531" y="508221"/>
                    <a:pt x="1924482" y="508221"/>
                  </a:cubicBezTo>
                  <a:lnTo>
                    <a:pt x="52598" y="508221"/>
                  </a:lnTo>
                  <a:cubicBezTo>
                    <a:pt x="38648" y="508221"/>
                    <a:pt x="25270" y="502679"/>
                    <a:pt x="15406" y="492815"/>
                  </a:cubicBezTo>
                  <a:cubicBezTo>
                    <a:pt x="5542" y="482951"/>
                    <a:pt x="0" y="469572"/>
                    <a:pt x="0" y="455623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977080" cy="460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4506" y="1180050"/>
            <a:ext cx="6668888" cy="232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938" b="true">
                <a:solidFill>
                  <a:srgbClr val="081D3B"/>
                </a:solidFill>
                <a:latin typeface="Inter Bold"/>
                <a:ea typeface="Inter Bold"/>
                <a:cs typeface="Inter Bold"/>
                <a:sym typeface="Inter Bold"/>
              </a:rPr>
              <a:t>COMPUTER INSTITUTE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9687" y="3604790"/>
            <a:ext cx="8150790" cy="216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b="true">
                <a:solidFill>
                  <a:srgbClr val="0580D6"/>
                </a:solidFill>
                <a:latin typeface="Inter Bold"/>
                <a:ea typeface="Inter Bold"/>
                <a:cs typeface="Inter Bold"/>
                <a:sym typeface="Inter Bold"/>
              </a:rPr>
              <a:t>MANAGEMENT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962" y="6542250"/>
            <a:ext cx="6902212" cy="171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true">
                <a:solidFill>
                  <a:srgbClr val="081D3B"/>
                </a:solidFill>
                <a:latin typeface="Inter Medium"/>
                <a:ea typeface="Inter Medium"/>
                <a:cs typeface="Inter Medium"/>
                <a:sym typeface="Inter Medium"/>
              </a:rPr>
              <a:t>Database Management Systems | LCA 3</a:t>
            </a:r>
          </a:p>
          <a:p>
            <a:pPr algn="l">
              <a:lnSpc>
                <a:spcPts val="2759"/>
              </a:lnSpc>
            </a:pPr>
            <a:r>
              <a:rPr lang="en-US" sz="2759" b="true">
                <a:solidFill>
                  <a:srgbClr val="081D3B"/>
                </a:solidFill>
                <a:latin typeface="Inter Medium"/>
                <a:ea typeface="Inter Medium"/>
                <a:cs typeface="Inter Medium"/>
                <a:sym typeface="Inter Medium"/>
              </a:rPr>
              <a:t>Pranavi Joshi</a:t>
            </a:r>
          </a:p>
          <a:p>
            <a:pPr algn="l">
              <a:lnSpc>
                <a:spcPts val="2759"/>
              </a:lnSpc>
            </a:pPr>
            <a:r>
              <a:rPr lang="en-US" sz="2759" b="true">
                <a:solidFill>
                  <a:srgbClr val="081D3B"/>
                </a:solidFill>
                <a:latin typeface="Inter Medium"/>
                <a:ea typeface="Inter Medium"/>
                <a:cs typeface="Inter Medium"/>
                <a:sym typeface="Inter Medium"/>
              </a:rPr>
              <a:t>1262242691</a:t>
            </a:r>
          </a:p>
          <a:p>
            <a:pPr algn="l">
              <a:lnSpc>
                <a:spcPts val="2759"/>
              </a:lnSpc>
            </a:pPr>
            <a:r>
              <a:rPr lang="en-US" sz="2759" b="true">
                <a:solidFill>
                  <a:srgbClr val="081D3B"/>
                </a:solidFill>
                <a:latin typeface="Inter Medium"/>
                <a:ea typeface="Inter Medium"/>
                <a:cs typeface="Inter Medium"/>
                <a:sym typeface="Inter Medium"/>
              </a:rPr>
              <a:t>TY ECE AIML C</a:t>
            </a:r>
          </a:p>
          <a:p>
            <a:pPr algn="l">
              <a:lnSpc>
                <a:spcPts val="2759"/>
              </a:lnSpc>
            </a:pPr>
            <a:r>
              <a:rPr lang="en-US" sz="2759" b="true">
                <a:solidFill>
                  <a:srgbClr val="081D3B"/>
                </a:solidFill>
                <a:latin typeface="Inter Medium"/>
                <a:ea typeface="Inter Medium"/>
                <a:cs typeface="Inter Medium"/>
                <a:sym typeface="Inter Medium"/>
              </a:rPr>
              <a:t>G3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312536" cy="7717983"/>
          </a:xfrm>
          <a:custGeom>
            <a:avLst/>
            <a:gdLst/>
            <a:ahLst/>
            <a:cxnLst/>
            <a:rect r="r" b="b" t="t" l="l"/>
            <a:pathLst>
              <a:path h="7717983" w="1312536">
                <a:moveTo>
                  <a:pt x="0" y="0"/>
                </a:moveTo>
                <a:lnTo>
                  <a:pt x="1312536" y="0"/>
                </a:lnTo>
                <a:lnTo>
                  <a:pt x="1312536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0574" y="0"/>
            <a:ext cx="8717426" cy="9434305"/>
          </a:xfrm>
          <a:custGeom>
            <a:avLst/>
            <a:gdLst/>
            <a:ahLst/>
            <a:cxnLst/>
            <a:rect r="r" b="b" t="t" l="l"/>
            <a:pathLst>
              <a:path h="9434305" w="8717426">
                <a:moveTo>
                  <a:pt x="0" y="0"/>
                </a:moveTo>
                <a:lnTo>
                  <a:pt x="8717426" y="0"/>
                </a:lnTo>
                <a:lnTo>
                  <a:pt x="8717426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0574" y="8352038"/>
            <a:ext cx="8717426" cy="1934962"/>
          </a:xfrm>
          <a:custGeom>
            <a:avLst/>
            <a:gdLst/>
            <a:ahLst/>
            <a:cxnLst/>
            <a:rect r="r" b="b" t="t" l="l"/>
            <a:pathLst>
              <a:path h="1934962" w="8717426">
                <a:moveTo>
                  <a:pt x="0" y="0"/>
                </a:moveTo>
                <a:lnTo>
                  <a:pt x="8717426" y="0"/>
                </a:lnTo>
                <a:lnTo>
                  <a:pt x="871742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7684" y="874761"/>
            <a:ext cx="6039454" cy="108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true">
                <a:solidFill>
                  <a:srgbClr val="051830"/>
                </a:solidFill>
                <a:latin typeface="Inter Bold"/>
                <a:ea typeface="Inter Bold"/>
                <a:cs typeface="Inter Bold"/>
                <a:sym typeface="Inter Bold"/>
              </a:rPr>
              <a:t>PROBLEM &amp;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6556" y="2038463"/>
            <a:ext cx="6152195" cy="111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b="true">
                <a:solidFill>
                  <a:srgbClr val="028FD1"/>
                </a:solidFill>
                <a:latin typeface="Inter Bold"/>
                <a:ea typeface="Inter Bold"/>
                <a:cs typeface="Inter Bold"/>
                <a:sym typeface="Inter Bold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2951" y="3385966"/>
            <a:ext cx="6512757" cy="136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>
                <a:solidFill>
                  <a:srgbClr val="293242"/>
                </a:solidFill>
                <a:latin typeface="Inter"/>
                <a:ea typeface="Inter"/>
                <a:cs typeface="Inter"/>
                <a:sym typeface="Inter"/>
              </a:rPr>
              <a:t>Institute information is scattered across student records, courses, faculty, scheduling, labs, and assessment.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39110" y="5356674"/>
            <a:ext cx="2625072" cy="218640"/>
          </a:xfrm>
          <a:custGeom>
            <a:avLst/>
            <a:gdLst/>
            <a:ahLst/>
            <a:cxnLst/>
            <a:rect r="r" b="b" t="t" l="l"/>
            <a:pathLst>
              <a:path h="218640" w="2625072">
                <a:moveTo>
                  <a:pt x="0" y="0"/>
                </a:moveTo>
                <a:lnTo>
                  <a:pt x="2625072" y="0"/>
                </a:lnTo>
                <a:lnTo>
                  <a:pt x="2625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4179" y="5891712"/>
            <a:ext cx="4389942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43" b="true">
                <a:solidFill>
                  <a:srgbClr val="028F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Centralized </a:t>
            </a:r>
            <a:r>
              <a:rPr lang="en-US" sz="2443">
                <a:solidFill>
                  <a:srgbClr val="293242"/>
                </a:solidFill>
                <a:latin typeface="Inter"/>
                <a:ea typeface="Inter"/>
                <a:cs typeface="Inter"/>
                <a:sym typeface="Inter"/>
              </a:rPr>
              <a:t>relational storage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5738" y="6720058"/>
            <a:ext cx="7234037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43" b="true">
                <a:solidFill>
                  <a:srgbClr val="028F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Repeatable </a:t>
            </a:r>
            <a:r>
              <a:rPr lang="en-US" sz="2443">
                <a:solidFill>
                  <a:srgbClr val="293242"/>
                </a:solidFill>
                <a:latin typeface="Inter"/>
                <a:ea typeface="Inter"/>
                <a:cs typeface="Inter"/>
                <a:sym typeface="Inter"/>
              </a:rPr>
              <a:t>admission-to-certification workflows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2783" y="7518282"/>
            <a:ext cx="4529468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43" b="true">
                <a:solidFill>
                  <a:srgbClr val="028F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Reduced </a:t>
            </a:r>
            <a:r>
              <a:rPr lang="en-US" sz="2443">
                <a:solidFill>
                  <a:srgbClr val="293242"/>
                </a:solidFill>
                <a:latin typeface="Inter"/>
                <a:ea typeface="Inter"/>
                <a:cs typeface="Inter"/>
                <a:sym typeface="Inter"/>
              </a:rPr>
              <a:t>redundant data entry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8414" y="8331568"/>
            <a:ext cx="4966422" cy="46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2443" b="true">
                <a:solidFill>
                  <a:srgbClr val="028F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Transparent </a:t>
            </a:r>
            <a:r>
              <a:rPr lang="en-US" sz="2443">
                <a:solidFill>
                  <a:srgbClr val="293242"/>
                </a:solidFill>
                <a:latin typeface="Inter"/>
                <a:ea typeface="Inter"/>
                <a:cs typeface="Inter"/>
                <a:sym typeface="Inter"/>
              </a:rPr>
              <a:t>dashboard reporting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5733" y="693612"/>
            <a:ext cx="7793909" cy="198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6"/>
              </a:lnSpc>
            </a:pPr>
            <a:r>
              <a:rPr lang="en-US" sz="7606" b="true">
                <a:solidFill>
                  <a:srgbClr val="051F40"/>
                </a:solidFill>
                <a:latin typeface="Inter Bold"/>
                <a:ea typeface="Inter Bold"/>
                <a:cs typeface="Inter Bold"/>
                <a:sym typeface="Inter Bold"/>
              </a:rPr>
              <a:t>TECHNOLOGY &amp; </a:t>
            </a:r>
            <a:r>
              <a:rPr lang="en-US" sz="7606" b="true">
                <a:solidFill>
                  <a:srgbClr val="0294DD"/>
                </a:solidFill>
                <a:latin typeface="Inter Bold"/>
                <a:ea typeface="Inter Bold"/>
                <a:cs typeface="Inter Bold"/>
                <a:sym typeface="Inter Bold"/>
              </a:rPr>
              <a:t>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3718852" cy="229572"/>
          </a:xfrm>
          <a:custGeom>
            <a:avLst/>
            <a:gdLst/>
            <a:ahLst/>
            <a:cxnLst/>
            <a:rect r="r" b="b" t="t" l="l"/>
            <a:pathLst>
              <a:path h="229572" w="3718852">
                <a:moveTo>
                  <a:pt x="0" y="0"/>
                </a:moveTo>
                <a:lnTo>
                  <a:pt x="3718852" y="0"/>
                </a:lnTo>
                <a:lnTo>
                  <a:pt x="3718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421712"/>
            <a:ext cx="4145426" cy="3017228"/>
          </a:xfrm>
          <a:custGeom>
            <a:avLst/>
            <a:gdLst/>
            <a:ahLst/>
            <a:cxnLst/>
            <a:rect r="r" b="b" t="t" l="l"/>
            <a:pathLst>
              <a:path h="3017228" w="4145426">
                <a:moveTo>
                  <a:pt x="0" y="0"/>
                </a:moveTo>
                <a:lnTo>
                  <a:pt x="4145426" y="0"/>
                </a:lnTo>
                <a:lnTo>
                  <a:pt x="414542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421712"/>
            <a:ext cx="4145426" cy="874559"/>
          </a:xfrm>
          <a:custGeom>
            <a:avLst/>
            <a:gdLst/>
            <a:ahLst/>
            <a:cxnLst/>
            <a:rect r="r" b="b" t="t" l="l"/>
            <a:pathLst>
              <a:path h="874559" w="4145426">
                <a:moveTo>
                  <a:pt x="0" y="0"/>
                </a:moveTo>
                <a:lnTo>
                  <a:pt x="4145426" y="0"/>
                </a:lnTo>
                <a:lnTo>
                  <a:pt x="414542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5875" y="3642379"/>
            <a:ext cx="1800184" cy="41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1"/>
              </a:lnSpc>
            </a:pPr>
            <a:r>
              <a:rPr lang="en-US" b="true" sz="2232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BROWSER UI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617" y="4875070"/>
            <a:ext cx="3670102" cy="8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8"/>
              </a:lnSpc>
            </a:pPr>
            <a:r>
              <a:rPr lang="en-US" sz="2055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HTML/CSS</a:t>
            </a:r>
          </a:p>
          <a:p>
            <a:pPr algn="ctr">
              <a:lnSpc>
                <a:spcPts val="3288"/>
              </a:lnSpc>
            </a:pPr>
            <a:r>
              <a:rPr lang="en-US" sz="2055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Jinja2 templates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72000" y="4493047"/>
            <a:ext cx="2395378" cy="437279"/>
          </a:xfrm>
          <a:custGeom>
            <a:avLst/>
            <a:gdLst/>
            <a:ahLst/>
            <a:cxnLst/>
            <a:rect r="r" b="b" t="t" l="l"/>
            <a:pathLst>
              <a:path h="437279" w="2395378">
                <a:moveTo>
                  <a:pt x="0" y="0"/>
                </a:moveTo>
                <a:lnTo>
                  <a:pt x="2395378" y="0"/>
                </a:lnTo>
                <a:lnTo>
                  <a:pt x="239537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83433" y="5417862"/>
            <a:ext cx="1147072" cy="59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546" b="true">
                <a:solidFill>
                  <a:srgbClr val="00477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HTTP</a:t>
            </a:r>
          </a:p>
          <a:p>
            <a:pPr algn="ctr">
              <a:lnSpc>
                <a:spcPts val="2474"/>
              </a:lnSpc>
            </a:pPr>
            <a:r>
              <a:rPr lang="en-US" sz="1546" b="true">
                <a:solidFill>
                  <a:srgbClr val="0294DD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GET / POST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956440" y="3421712"/>
            <a:ext cx="4156364" cy="3017228"/>
          </a:xfrm>
          <a:custGeom>
            <a:avLst/>
            <a:gdLst/>
            <a:ahLst/>
            <a:cxnLst/>
            <a:rect r="r" b="b" t="t" l="l"/>
            <a:pathLst>
              <a:path h="3017228" w="4156364">
                <a:moveTo>
                  <a:pt x="0" y="0"/>
                </a:moveTo>
                <a:lnTo>
                  <a:pt x="4156364" y="0"/>
                </a:lnTo>
                <a:lnTo>
                  <a:pt x="415636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56440" y="3421712"/>
            <a:ext cx="4156364" cy="874559"/>
          </a:xfrm>
          <a:custGeom>
            <a:avLst/>
            <a:gdLst/>
            <a:ahLst/>
            <a:cxnLst/>
            <a:rect r="r" b="b" t="t" l="l"/>
            <a:pathLst>
              <a:path h="874559" w="4156364">
                <a:moveTo>
                  <a:pt x="0" y="0"/>
                </a:moveTo>
                <a:lnTo>
                  <a:pt x="4156364" y="0"/>
                </a:lnTo>
                <a:lnTo>
                  <a:pt x="415636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28429" y="3633858"/>
            <a:ext cx="1605935" cy="42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4"/>
              </a:lnSpc>
            </a:pPr>
            <a:r>
              <a:rPr lang="en-US" b="true" sz="2271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FLASK APP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93781" y="4566596"/>
            <a:ext cx="3482578" cy="131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254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Python routes</a:t>
            </a:r>
          </a:p>
          <a:p>
            <a:pPr algn="l">
              <a:lnSpc>
                <a:spcPts val="3607"/>
              </a:lnSpc>
            </a:pPr>
            <a:r>
              <a:rPr lang="en-US" sz="2254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Forms &amp; business logic</a:t>
            </a:r>
          </a:p>
          <a:p>
            <a:pPr algn="l">
              <a:lnSpc>
                <a:spcPts val="3607"/>
              </a:lnSpc>
            </a:pPr>
            <a:r>
              <a:rPr lang="en-US" sz="2254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Renders tables / views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101866" y="4493047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136801" y="5390951"/>
            <a:ext cx="2198742" cy="55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432" b="true">
                <a:solidFill>
                  <a:srgbClr val="00477B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DB CONNECTION</a:t>
            </a:r>
          </a:p>
          <a:p>
            <a:pPr algn="ctr">
              <a:lnSpc>
                <a:spcPts val="2291"/>
              </a:lnSpc>
            </a:pPr>
            <a:r>
              <a:rPr lang="en-US" sz="1432" b="true">
                <a:solidFill>
                  <a:srgbClr val="0294DD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mysql-connectorpython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278488" y="3421712"/>
            <a:ext cx="4145426" cy="3017228"/>
          </a:xfrm>
          <a:custGeom>
            <a:avLst/>
            <a:gdLst/>
            <a:ahLst/>
            <a:cxnLst/>
            <a:rect r="r" b="b" t="t" l="l"/>
            <a:pathLst>
              <a:path h="3017228" w="4145426">
                <a:moveTo>
                  <a:pt x="0" y="0"/>
                </a:moveTo>
                <a:lnTo>
                  <a:pt x="4145426" y="0"/>
                </a:lnTo>
                <a:lnTo>
                  <a:pt x="414542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278488" y="3421712"/>
            <a:ext cx="4145426" cy="874559"/>
          </a:xfrm>
          <a:custGeom>
            <a:avLst/>
            <a:gdLst/>
            <a:ahLst/>
            <a:cxnLst/>
            <a:rect r="r" b="b" t="t" l="l"/>
            <a:pathLst>
              <a:path h="874559" w="4145426">
                <a:moveTo>
                  <a:pt x="0" y="0"/>
                </a:moveTo>
                <a:lnTo>
                  <a:pt x="4145426" y="0"/>
                </a:lnTo>
                <a:lnTo>
                  <a:pt x="414542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978594" y="3650302"/>
            <a:ext cx="2672355" cy="40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b="true" sz="2192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MYSQL DATABASE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798842" y="4493047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45330" y="6854356"/>
            <a:ext cx="16778584" cy="218640"/>
          </a:xfrm>
          <a:custGeom>
            <a:avLst/>
            <a:gdLst/>
            <a:ahLst/>
            <a:cxnLst/>
            <a:rect r="r" b="b" t="t" l="l"/>
            <a:pathLst>
              <a:path h="218640" w="16778584">
                <a:moveTo>
                  <a:pt x="0" y="0"/>
                </a:moveTo>
                <a:lnTo>
                  <a:pt x="16778584" y="0"/>
                </a:lnTo>
                <a:lnTo>
                  <a:pt x="16778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37617" y="7584803"/>
            <a:ext cx="3482578" cy="73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188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Python-dotenv loads credentials from </a:t>
            </a:r>
            <a:r>
              <a:rPr lang="en-US" sz="2188" b="true">
                <a:solidFill>
                  <a:srgbClr val="0294DD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.env</a:t>
            </a:r>
            <a:r>
              <a:rPr lang="en-US" sz="2188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 file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779818" y="7499343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91758" y="7591438"/>
            <a:ext cx="3670102" cy="709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055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Flask handles </a:t>
            </a:r>
            <a:r>
              <a:rPr lang="en-US" sz="2055" b="true">
                <a:solidFill>
                  <a:srgbClr val="0294DD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GET</a:t>
            </a:r>
            <a:r>
              <a:rPr lang="en-US" sz="2055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 views and </a:t>
            </a:r>
            <a:r>
              <a:rPr lang="en-US" sz="2055" b="true">
                <a:solidFill>
                  <a:srgbClr val="0294DD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POST</a:t>
            </a:r>
            <a:r>
              <a:rPr lang="en-US" sz="2055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 create operations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570574" y="7499343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367367" y="7591438"/>
            <a:ext cx="3482578" cy="709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055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Server executes </a:t>
            </a:r>
            <a:r>
              <a:rPr lang="en-US" sz="2055" b="true">
                <a:solidFill>
                  <a:srgbClr val="0294DD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SQL</a:t>
            </a:r>
            <a:r>
              <a:rPr lang="en-US" sz="2055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 queries and renders tables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142574" y="7499343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975086" y="7584803"/>
            <a:ext cx="2411016" cy="73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188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System </a:t>
            </a:r>
            <a:r>
              <a:rPr lang="en-US" sz="2188" b="true">
                <a:solidFill>
                  <a:srgbClr val="0294DD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not</a:t>
            </a:r>
            <a:r>
              <a:rPr lang="en-US" sz="2188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 deployed publicly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0" y="8997026"/>
            <a:ext cx="18288000" cy="1289974"/>
          </a:xfrm>
          <a:custGeom>
            <a:avLst/>
            <a:gdLst/>
            <a:ahLst/>
            <a:cxnLst/>
            <a:rect r="r" b="b" t="t" l="l"/>
            <a:pathLst>
              <a:path h="1289974" w="18288000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90573" y="9534560"/>
            <a:ext cx="12025464" cy="34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6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654" b="true">
                <a:solidFill>
                  <a:srgbClr val="0294DD"/>
                </a:solidFill>
                <a:latin typeface="Inter Bold"/>
                <a:ea typeface="Inter Bold"/>
                <a:cs typeface="Inter Bold"/>
                <a:sym typeface="Inter Bold"/>
              </a:rPr>
              <a:t>secure, modular</a:t>
            </a:r>
            <a:r>
              <a:rPr lang="en-US" sz="26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architecture for managing institute data and workflows.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82055" y="5826129"/>
            <a:ext cx="3536156" cy="42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</a:pPr>
            <a:r>
              <a:rPr lang="en-US" sz="2254" b="true">
                <a:solidFill>
                  <a:srgbClr val="051F40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ComputerInstituteDB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7998" y="619043"/>
            <a:ext cx="8136124" cy="103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776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10 APPLICATION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2263" y="1780150"/>
            <a:ext cx="4709632" cy="97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7387" b="true">
                <a:solidFill>
                  <a:srgbClr val="0588DD"/>
                </a:solidFill>
                <a:latin typeface="Inter Bold"/>
                <a:ea typeface="Inter Bold"/>
                <a:cs typeface="Inter Bold"/>
                <a:sym typeface="Inter Bold"/>
              </a:rPr>
              <a:t>MODULES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995365"/>
            <a:ext cx="2843828" cy="229572"/>
          </a:xfrm>
          <a:custGeom>
            <a:avLst/>
            <a:gdLst/>
            <a:ahLst/>
            <a:cxnLst/>
            <a:rect r="r" b="b" t="t" l="l"/>
            <a:pathLst>
              <a:path h="229572" w="2843828">
                <a:moveTo>
                  <a:pt x="0" y="0"/>
                </a:moveTo>
                <a:lnTo>
                  <a:pt x="2843828" y="0"/>
                </a:lnTo>
                <a:lnTo>
                  <a:pt x="2843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7574" y="3490323"/>
            <a:ext cx="9857446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49" b="true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Ten database-backed business modules shown on the dashboard.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4066699"/>
            <a:ext cx="2625072" cy="3869923"/>
          </a:xfrm>
          <a:custGeom>
            <a:avLst/>
            <a:gdLst/>
            <a:ahLst/>
            <a:cxnLst/>
            <a:rect r="r" b="b" t="t" l="l"/>
            <a:pathLst>
              <a:path h="3869923" w="2625072">
                <a:moveTo>
                  <a:pt x="0" y="0"/>
                </a:moveTo>
                <a:lnTo>
                  <a:pt x="2625072" y="0"/>
                </a:lnTo>
                <a:lnTo>
                  <a:pt x="2625072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2902" y="4496792"/>
            <a:ext cx="1477509" cy="20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 spc="-32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MASTER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4919394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330" y="5783021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6635716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40708" y="4066699"/>
            <a:ext cx="2843828" cy="3869923"/>
          </a:xfrm>
          <a:custGeom>
            <a:avLst/>
            <a:gdLst/>
            <a:ahLst/>
            <a:cxnLst/>
            <a:rect r="r" b="b" t="t" l="l"/>
            <a:pathLst>
              <a:path h="3869923" w="2843828">
                <a:moveTo>
                  <a:pt x="0" y="0"/>
                </a:moveTo>
                <a:lnTo>
                  <a:pt x="2843828" y="0"/>
                </a:lnTo>
                <a:lnTo>
                  <a:pt x="2843828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259464" y="4919394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73598" y="4066699"/>
            <a:ext cx="2843828" cy="3869923"/>
          </a:xfrm>
          <a:custGeom>
            <a:avLst/>
            <a:gdLst/>
            <a:ahLst/>
            <a:cxnLst/>
            <a:rect r="r" b="b" t="t" l="l"/>
            <a:pathLst>
              <a:path h="3869923" w="2843828">
                <a:moveTo>
                  <a:pt x="0" y="0"/>
                </a:moveTo>
                <a:lnTo>
                  <a:pt x="2843828" y="0"/>
                </a:lnTo>
                <a:lnTo>
                  <a:pt x="2843828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014634" y="4496792"/>
            <a:ext cx="2460936" cy="20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 spc="-32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ACADEMIC OPERATIONS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2354" y="4919394"/>
            <a:ext cx="2406316" cy="874559"/>
          </a:xfrm>
          <a:custGeom>
            <a:avLst/>
            <a:gdLst/>
            <a:ahLst/>
            <a:cxnLst/>
            <a:rect r="r" b="b" t="t" l="l"/>
            <a:pathLst>
              <a:path h="874559" w="2406316">
                <a:moveTo>
                  <a:pt x="0" y="0"/>
                </a:moveTo>
                <a:lnTo>
                  <a:pt x="2406316" y="0"/>
                </a:lnTo>
                <a:lnTo>
                  <a:pt x="240631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92354" y="5783021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092354" y="6635716"/>
            <a:ext cx="2406316" cy="874559"/>
          </a:xfrm>
          <a:custGeom>
            <a:avLst/>
            <a:gdLst/>
            <a:ahLst/>
            <a:cxnLst/>
            <a:rect r="r" b="b" t="t" l="l"/>
            <a:pathLst>
              <a:path h="874559" w="2406316">
                <a:moveTo>
                  <a:pt x="0" y="0"/>
                </a:moveTo>
                <a:lnTo>
                  <a:pt x="2406316" y="0"/>
                </a:lnTo>
                <a:lnTo>
                  <a:pt x="240631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66805" y="7012483"/>
            <a:ext cx="2812852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Lab Allocation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706488" y="4066699"/>
            <a:ext cx="2625072" cy="3869923"/>
          </a:xfrm>
          <a:custGeom>
            <a:avLst/>
            <a:gdLst/>
            <a:ahLst/>
            <a:cxnLst/>
            <a:rect r="r" b="b" t="t" l="l"/>
            <a:pathLst>
              <a:path h="3869923" w="2625072">
                <a:moveTo>
                  <a:pt x="0" y="0"/>
                </a:moveTo>
                <a:lnTo>
                  <a:pt x="2625072" y="0"/>
                </a:lnTo>
                <a:lnTo>
                  <a:pt x="2625072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925244" y="4919394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813602" y="5295547"/>
            <a:ext cx="257175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Examination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925244" y="5783021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925244" y="6635716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813602" y="7012483"/>
            <a:ext cx="257175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Certificate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739110" y="7707051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353244" y="7707051"/>
            <a:ext cx="218756" cy="437279"/>
          </a:xfrm>
          <a:custGeom>
            <a:avLst/>
            <a:gdLst/>
            <a:ahLst/>
            <a:cxnLst/>
            <a:rect r="r" b="b" t="t" l="l"/>
            <a:pathLst>
              <a:path h="437279" w="218756">
                <a:moveTo>
                  <a:pt x="0" y="0"/>
                </a:moveTo>
                <a:lnTo>
                  <a:pt x="218756" y="0"/>
                </a:lnTo>
                <a:lnTo>
                  <a:pt x="21875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75196" y="7707051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008086" y="7707051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26574" y="7925691"/>
            <a:ext cx="10904986" cy="1727254"/>
          </a:xfrm>
          <a:custGeom>
            <a:avLst/>
            <a:gdLst/>
            <a:ahLst/>
            <a:cxnLst/>
            <a:rect r="r" b="b" t="t" l="l"/>
            <a:pathLst>
              <a:path h="1727254" w="10904986">
                <a:moveTo>
                  <a:pt x="0" y="0"/>
                </a:moveTo>
                <a:lnTo>
                  <a:pt x="10904986" y="0"/>
                </a:lnTo>
                <a:lnTo>
                  <a:pt x="10904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678091" y="8410756"/>
            <a:ext cx="3642336" cy="30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</a:pPr>
            <a:r>
              <a:rPr lang="en-US" b="true" sz="2355">
                <a:solidFill>
                  <a:srgbClr val="0588DD"/>
                </a:solidFill>
                <a:latin typeface="Inter Bold"/>
                <a:ea typeface="Inter Bold"/>
                <a:cs typeface="Inter Bold"/>
                <a:sym typeface="Inter Bold"/>
              </a:rPr>
              <a:t>DASHBOARD OVERVIEW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86062" y="8925209"/>
            <a:ext cx="6402586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spc="-43" b="true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counts and insights for all modules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0008086" y="2776725"/>
            <a:ext cx="8072096" cy="6438940"/>
          </a:xfrm>
          <a:custGeom>
            <a:avLst/>
            <a:gdLst/>
            <a:ahLst/>
            <a:cxnLst/>
            <a:rect r="r" b="b" t="t" l="l"/>
            <a:pathLst>
              <a:path h="6438940" w="8072096">
                <a:moveTo>
                  <a:pt x="0" y="0"/>
                </a:moveTo>
                <a:lnTo>
                  <a:pt x="8072096" y="0"/>
                </a:lnTo>
                <a:lnTo>
                  <a:pt x="8072096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68554">
            <a:off x="12264637" y="3418614"/>
            <a:ext cx="2391600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b="true" sz="1546" spc="-30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DASHBOARD OVERVIEW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2184708" y="3640352"/>
            <a:ext cx="1104718" cy="1727254"/>
          </a:xfrm>
          <a:custGeom>
            <a:avLst/>
            <a:gdLst/>
            <a:ahLst/>
            <a:cxnLst/>
            <a:rect r="r" b="b" t="t" l="l"/>
            <a:pathLst>
              <a:path h="1727254" w="1104718">
                <a:moveTo>
                  <a:pt x="0" y="0"/>
                </a:moveTo>
                <a:lnTo>
                  <a:pt x="1104718" y="0"/>
                </a:lnTo>
                <a:lnTo>
                  <a:pt x="110471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221484">
            <a:off x="12332626" y="4651641"/>
            <a:ext cx="711064" cy="26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b="true" sz="2091" spc="-41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1,284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278488" y="3848060"/>
            <a:ext cx="1093780" cy="1519546"/>
          </a:xfrm>
          <a:custGeom>
            <a:avLst/>
            <a:gdLst/>
            <a:ahLst/>
            <a:cxnLst/>
            <a:rect r="r" b="b" t="t" l="l"/>
            <a:pathLst>
              <a:path h="1519546" w="1093780">
                <a:moveTo>
                  <a:pt x="0" y="0"/>
                </a:moveTo>
                <a:lnTo>
                  <a:pt x="1093780" y="0"/>
                </a:lnTo>
                <a:lnTo>
                  <a:pt x="109378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221484">
            <a:off x="13521974" y="4250034"/>
            <a:ext cx="435798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</a:p>
        </p:txBody>
      </p:sp>
      <p:sp>
        <p:nvSpPr>
          <p:cNvPr name="TextBox 39" id="39"/>
          <p:cNvSpPr txBox="true"/>
          <p:nvPr/>
        </p:nvSpPr>
        <p:spPr>
          <a:xfrm rot="221484">
            <a:off x="13466579" y="4671723"/>
            <a:ext cx="477833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43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156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4142574" y="3848060"/>
            <a:ext cx="1323474" cy="1519546"/>
          </a:xfrm>
          <a:custGeom>
            <a:avLst/>
            <a:gdLst/>
            <a:ahLst/>
            <a:cxnLst/>
            <a:rect r="r" b="b" t="t" l="l"/>
            <a:pathLst>
              <a:path h="1519546" w="1323474">
                <a:moveTo>
                  <a:pt x="0" y="0"/>
                </a:moveTo>
                <a:lnTo>
                  <a:pt x="1323474" y="0"/>
                </a:lnTo>
                <a:lnTo>
                  <a:pt x="132347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221484">
            <a:off x="14589818" y="4280156"/>
            <a:ext cx="443234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"/>
              </a:lnSpc>
            </a:pPr>
            <a:r>
              <a:rPr lang="en-US" sz="1124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Faculty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236354" y="3848060"/>
            <a:ext cx="1312536" cy="1519546"/>
          </a:xfrm>
          <a:custGeom>
            <a:avLst/>
            <a:gdLst/>
            <a:ahLst/>
            <a:cxnLst/>
            <a:rect r="r" b="b" t="t" l="l"/>
            <a:pathLst>
              <a:path h="1519546" w="1312536">
                <a:moveTo>
                  <a:pt x="0" y="0"/>
                </a:moveTo>
                <a:lnTo>
                  <a:pt x="1312536" y="0"/>
                </a:lnTo>
                <a:lnTo>
                  <a:pt x="131253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221484">
            <a:off x="15664190" y="4758151"/>
            <a:ext cx="318555" cy="25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b="true" sz="1959" spc="-39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42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6319196" y="3848060"/>
            <a:ext cx="1542230" cy="1519546"/>
          </a:xfrm>
          <a:custGeom>
            <a:avLst/>
            <a:gdLst/>
            <a:ahLst/>
            <a:cxnLst/>
            <a:rect r="r" b="b" t="t" l="l"/>
            <a:pathLst>
              <a:path h="1519546" w="1542230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221484">
            <a:off x="16816155" y="4803891"/>
            <a:ext cx="318555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38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64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1965952" y="5138034"/>
            <a:ext cx="1104718" cy="1508614"/>
          </a:xfrm>
          <a:custGeom>
            <a:avLst/>
            <a:gdLst/>
            <a:ahLst/>
            <a:cxnLst/>
            <a:rect r="r" b="b" t="t" l="l"/>
            <a:pathLst>
              <a:path h="1508614" w="1104718">
                <a:moveTo>
                  <a:pt x="0" y="0"/>
                </a:moveTo>
                <a:lnTo>
                  <a:pt x="1104718" y="0"/>
                </a:lnTo>
                <a:lnTo>
                  <a:pt x="110471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221484">
            <a:off x="12285589" y="5560327"/>
            <a:ext cx="662573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Enrollment</a:t>
            </a:r>
          </a:p>
        </p:txBody>
      </p:sp>
      <p:sp>
        <p:nvSpPr>
          <p:cNvPr name="TextBox 48" id="48"/>
          <p:cNvSpPr txBox="true"/>
          <p:nvPr/>
        </p:nvSpPr>
        <p:spPr>
          <a:xfrm rot="221484">
            <a:off x="12198681" y="6007117"/>
            <a:ext cx="711064" cy="26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b="true" sz="2091" spc="-41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3,412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3059732" y="5138034"/>
            <a:ext cx="1093780" cy="1508614"/>
          </a:xfrm>
          <a:custGeom>
            <a:avLst/>
            <a:gdLst/>
            <a:ahLst/>
            <a:cxnLst/>
            <a:rect r="r" b="b" t="t" l="l"/>
            <a:pathLst>
              <a:path h="1508614" w="1093780">
                <a:moveTo>
                  <a:pt x="0" y="0"/>
                </a:moveTo>
                <a:lnTo>
                  <a:pt x="1093780" y="0"/>
                </a:lnTo>
                <a:lnTo>
                  <a:pt x="109378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221484">
            <a:off x="13332634" y="6072381"/>
            <a:ext cx="477833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43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128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3923818" y="5138034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221484">
            <a:off x="14405832" y="6158809"/>
            <a:ext cx="477833" cy="25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b="true" sz="1959" spc="-39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356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5017598" y="5138034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6100440" y="5138034"/>
            <a:ext cx="1542230" cy="1508614"/>
          </a:xfrm>
          <a:custGeom>
            <a:avLst/>
            <a:gdLst/>
            <a:ahLst/>
            <a:cxnLst/>
            <a:rect r="r" b="b" t="t" l="l"/>
            <a:pathLst>
              <a:path h="1508614" w="1542230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221484">
            <a:off x="16511109" y="6298851"/>
            <a:ext cx="711064" cy="28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b="true" sz="2135" spc="-42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1,743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693496" y="4496792"/>
            <a:ext cx="1477509" cy="20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 spc="-32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MASTER DATA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78760" y="4496792"/>
            <a:ext cx="1389998" cy="20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 spc="-32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ASSESSMENT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53953" y="5295547"/>
            <a:ext cx="2812852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Laboratory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866805" y="6154015"/>
            <a:ext cx="2812852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Enrollment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8992" y="5295547"/>
            <a:ext cx="2678906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Student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08992" y="7012483"/>
            <a:ext cx="2678906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Faculty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08992" y="6154015"/>
            <a:ext cx="2678906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Course</a:t>
            </a:r>
          </a:p>
        </p:txBody>
      </p:sp>
      <p:sp>
        <p:nvSpPr>
          <p:cNvPr name="TextBox 63" id="63"/>
          <p:cNvSpPr txBox="true"/>
          <p:nvPr/>
        </p:nvSpPr>
        <p:spPr>
          <a:xfrm rot="221484">
            <a:off x="15360168" y="6224630"/>
            <a:ext cx="711064" cy="27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b="true" sz="2003" spc="-40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2,987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813602" y="6154015"/>
            <a:ext cx="257175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Result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866805" y="5295547"/>
            <a:ext cx="2812852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43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Batch</a:t>
            </a:r>
          </a:p>
        </p:txBody>
      </p:sp>
      <p:sp>
        <p:nvSpPr>
          <p:cNvPr name="TextBox 66" id="66"/>
          <p:cNvSpPr txBox="true"/>
          <p:nvPr/>
        </p:nvSpPr>
        <p:spPr>
          <a:xfrm rot="221484">
            <a:off x="13179707" y="5635631"/>
            <a:ext cx="881908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Lab Allocation</a:t>
            </a:r>
          </a:p>
        </p:txBody>
      </p:sp>
      <p:sp>
        <p:nvSpPr>
          <p:cNvPr name="TextBox 67" id="67"/>
          <p:cNvSpPr txBox="true"/>
          <p:nvPr/>
        </p:nvSpPr>
        <p:spPr>
          <a:xfrm rot="221484">
            <a:off x="14312493" y="5695875"/>
            <a:ext cx="761605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"/>
              </a:lnSpc>
            </a:pPr>
            <a:r>
              <a:rPr lang="en-US" sz="1124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Examination</a:t>
            </a:r>
          </a:p>
        </p:txBody>
      </p:sp>
      <p:sp>
        <p:nvSpPr>
          <p:cNvPr name="TextBox 68" id="68"/>
          <p:cNvSpPr txBox="true"/>
          <p:nvPr/>
        </p:nvSpPr>
        <p:spPr>
          <a:xfrm rot="221484">
            <a:off x="16584200" y="5846483"/>
            <a:ext cx="637850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Certificate</a:t>
            </a:r>
          </a:p>
        </p:txBody>
      </p:sp>
      <p:sp>
        <p:nvSpPr>
          <p:cNvPr name="TextBox 69" id="69"/>
          <p:cNvSpPr txBox="true"/>
          <p:nvPr/>
        </p:nvSpPr>
        <p:spPr>
          <a:xfrm rot="221484">
            <a:off x="15580699" y="4325338"/>
            <a:ext cx="663533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Laboratory</a:t>
            </a:r>
          </a:p>
        </p:txBody>
      </p:sp>
      <p:sp>
        <p:nvSpPr>
          <p:cNvPr name="TextBox 70" id="70"/>
          <p:cNvSpPr txBox="true"/>
          <p:nvPr/>
        </p:nvSpPr>
        <p:spPr>
          <a:xfrm rot="221484">
            <a:off x="14619416" y="4728029"/>
            <a:ext cx="318555" cy="25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b="true" sz="1959" spc="-39">
                <a:solidFill>
                  <a:srgbClr val="213555"/>
                </a:solidFill>
                <a:latin typeface="Inter Bold"/>
                <a:ea typeface="Inter Bold"/>
                <a:cs typeface="Inter Bold"/>
                <a:sym typeface="Inter Bold"/>
              </a:rPr>
              <a:t>89</a:t>
            </a:r>
          </a:p>
        </p:txBody>
      </p:sp>
      <p:sp>
        <p:nvSpPr>
          <p:cNvPr name="TextBox 71" id="71"/>
          <p:cNvSpPr txBox="true"/>
          <p:nvPr/>
        </p:nvSpPr>
        <p:spPr>
          <a:xfrm rot="221484">
            <a:off x="12484312" y="4219912"/>
            <a:ext cx="475153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Student</a:t>
            </a:r>
          </a:p>
        </p:txBody>
      </p:sp>
      <p:sp>
        <p:nvSpPr>
          <p:cNvPr name="TextBox 72" id="72"/>
          <p:cNvSpPr txBox="true"/>
          <p:nvPr/>
        </p:nvSpPr>
        <p:spPr>
          <a:xfrm rot="221484">
            <a:off x="16830836" y="4340399"/>
            <a:ext cx="354605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Batch</a:t>
            </a:r>
          </a:p>
        </p:txBody>
      </p:sp>
      <p:sp>
        <p:nvSpPr>
          <p:cNvPr name="TextBox 73" id="73"/>
          <p:cNvSpPr txBox="true"/>
          <p:nvPr/>
        </p:nvSpPr>
        <p:spPr>
          <a:xfrm rot="221484">
            <a:off x="15559336" y="5771179"/>
            <a:ext cx="383720" cy="3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"/>
              </a:lnSpc>
            </a:pPr>
            <a:r>
              <a:rPr lang="en-US" sz="1125" spc="-22">
                <a:solidFill>
                  <a:srgbClr val="213555"/>
                </a:solidFill>
                <a:latin typeface="Inter"/>
                <a:ea typeface="Inter"/>
                <a:cs typeface="Inter"/>
                <a:sym typeface="Inter"/>
              </a:rPr>
              <a:t>Result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3074" y="413258"/>
            <a:ext cx="6233963" cy="86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true">
                <a:solidFill>
                  <a:srgbClr val="091B3F"/>
                </a:solidFill>
                <a:latin typeface="Inter Bold"/>
                <a:ea typeface="Inter Bold"/>
                <a:cs typeface="Inter Bold"/>
                <a:sym typeface="Inter Bold"/>
              </a:rPr>
              <a:t>DATA MODEL /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3490" y="1226543"/>
            <a:ext cx="10192440" cy="86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true">
                <a:solidFill>
                  <a:srgbClr val="1088D6"/>
                </a:solidFill>
                <a:latin typeface="Inter Bold"/>
                <a:ea typeface="Inter Bold"/>
                <a:cs typeface="Inter Bold"/>
                <a:sym typeface="Inter Bold"/>
              </a:rPr>
              <a:t>ENTITY RELATIONSHIPS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142670"/>
            <a:ext cx="1760986" cy="218640"/>
          </a:xfrm>
          <a:custGeom>
            <a:avLst/>
            <a:gdLst/>
            <a:ahLst/>
            <a:cxnLst/>
            <a:rect r="r" b="b" t="t" l="l"/>
            <a:pathLst>
              <a:path h="218640" w="1760986">
                <a:moveTo>
                  <a:pt x="0" y="0"/>
                </a:moveTo>
                <a:lnTo>
                  <a:pt x="1760986" y="0"/>
                </a:lnTo>
                <a:lnTo>
                  <a:pt x="176098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9464" y="2142670"/>
            <a:ext cx="2406316" cy="1289974"/>
          </a:xfrm>
          <a:custGeom>
            <a:avLst/>
            <a:gdLst/>
            <a:ahLst/>
            <a:cxnLst/>
            <a:rect r="r" b="b" t="t" l="l"/>
            <a:pathLst>
              <a:path h="1289974" w="2406316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89288" y="2466186"/>
            <a:ext cx="977543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COURSE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36086" y="2776725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59836" y="2610784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20658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31464" y="2142670"/>
            <a:ext cx="2406316" cy="1289974"/>
          </a:xfrm>
          <a:custGeom>
            <a:avLst/>
            <a:gdLst/>
            <a:ahLst/>
            <a:cxnLst/>
            <a:rect r="r" b="b" t="t" l="l"/>
            <a:pathLst>
              <a:path h="1289974" w="2406316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08086" y="2776725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33422" y="2610784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20658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403464" y="2142670"/>
            <a:ext cx="2187560" cy="1289974"/>
          </a:xfrm>
          <a:custGeom>
            <a:avLst/>
            <a:gdLst/>
            <a:ahLst/>
            <a:cxnLst/>
            <a:rect r="r" b="b" t="t" l="l"/>
            <a:pathLst>
              <a:path h="1289974" w="2187560">
                <a:moveTo>
                  <a:pt x="0" y="0"/>
                </a:moveTo>
                <a:lnTo>
                  <a:pt x="2187560" y="0"/>
                </a:lnTo>
                <a:lnTo>
                  <a:pt x="2187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963792" y="2466186"/>
            <a:ext cx="1109546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FACULTY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259464" y="3640352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915427" y="3851784"/>
            <a:ext cx="1125266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56676" y="4299330"/>
            <a:ext cx="1042768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Student_ID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436086" y="3421712"/>
            <a:ext cx="2625072" cy="2579949"/>
          </a:xfrm>
          <a:custGeom>
            <a:avLst/>
            <a:gdLst/>
            <a:ahLst/>
            <a:cxnLst/>
            <a:rect r="r" b="b" t="t" l="l"/>
            <a:pathLst>
              <a:path h="2579949" w="2625072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08086" y="3421712"/>
            <a:ext cx="2625072" cy="2579949"/>
          </a:xfrm>
          <a:custGeom>
            <a:avLst/>
            <a:gdLst/>
            <a:ahLst/>
            <a:cxnLst/>
            <a:rect r="r" b="b" t="t" l="l"/>
            <a:pathLst>
              <a:path h="2579949" w="2625072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18922" y="4884971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74336" y="4884971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831464" y="5138034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189640" y="5508476"/>
            <a:ext cx="1687264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EXAMINATION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4336" y="6511541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831464" y="6854356"/>
            <a:ext cx="2406316" cy="1289974"/>
          </a:xfrm>
          <a:custGeom>
            <a:avLst/>
            <a:gdLst/>
            <a:ahLst/>
            <a:cxnLst/>
            <a:rect r="r" b="b" t="t" l="l"/>
            <a:pathLst>
              <a:path h="1289974" w="2406316">
                <a:moveTo>
                  <a:pt x="0" y="0"/>
                </a:moveTo>
                <a:lnTo>
                  <a:pt x="2406316" y="0"/>
                </a:lnTo>
                <a:lnTo>
                  <a:pt x="2406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099102" y="7204340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20658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259464" y="5138034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671590" y="5508476"/>
            <a:ext cx="1612939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ENROLLMENT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66617" y="4884971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20383" y="5683195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353244" y="6209369"/>
            <a:ext cx="3707914" cy="1508614"/>
          </a:xfrm>
          <a:custGeom>
            <a:avLst/>
            <a:gdLst/>
            <a:ahLst/>
            <a:cxnLst/>
            <a:rect r="r" b="b" t="t" l="l"/>
            <a:pathLst>
              <a:path h="1508614" w="37079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7099102" y="8680303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7831464" y="8352038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266565" y="8550766"/>
            <a:ext cx="1533414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CERTIFICATE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008086" y="8778386"/>
            <a:ext cx="3926670" cy="229572"/>
          </a:xfrm>
          <a:custGeom>
            <a:avLst/>
            <a:gdLst/>
            <a:ahLst/>
            <a:cxnLst/>
            <a:rect r="r" b="b" t="t" l="l"/>
            <a:pathLst>
              <a:path h="229572" w="3926670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447734" y="8680303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12141" y="5683195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3090C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403464" y="3640352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2708454" y="3851784"/>
            <a:ext cx="1620221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LABORATORY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96309" y="4299330"/>
            <a:ext cx="644512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Lab_ID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21320" y="4854849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20658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403464" y="5138034"/>
            <a:ext cx="2187560" cy="1300906"/>
          </a:xfrm>
          <a:custGeom>
            <a:avLst/>
            <a:gdLst/>
            <a:ahLst/>
            <a:cxnLst/>
            <a:rect r="r" b="b" t="t" l="l"/>
            <a:pathLst>
              <a:path h="1300906" w="2187560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490683" y="5508476"/>
            <a:ext cx="2055764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LAB ALLOCATION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3716000" y="6209369"/>
            <a:ext cx="218756" cy="2798589"/>
          </a:xfrm>
          <a:custGeom>
            <a:avLst/>
            <a:gdLst/>
            <a:ahLst/>
            <a:cxnLst/>
            <a:rect r="r" b="b" t="t" l="l"/>
            <a:pathLst>
              <a:path h="2798589" w="218756">
                <a:moveTo>
                  <a:pt x="0" y="0"/>
                </a:moveTo>
                <a:lnTo>
                  <a:pt x="218756" y="0"/>
                </a:lnTo>
                <a:lnTo>
                  <a:pt x="21875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339509" y="9800816"/>
            <a:ext cx="11590532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Relationships inferred from SQL joins and INSERT statements; DDL/foreign-key declarations not supplied.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0" y="899702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7850488" y="9204733"/>
            <a:ext cx="437512" cy="448211"/>
          </a:xfrm>
          <a:custGeom>
            <a:avLst/>
            <a:gdLst/>
            <a:ahLst/>
            <a:cxnLst/>
            <a:rect r="r" b="b" t="t" l="l"/>
            <a:pathLst>
              <a:path h="448211" w="437512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2694371" y="5925901"/>
            <a:ext cx="1648387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Lab Allocation_ID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819360" y="5925901"/>
            <a:ext cx="1317400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Enrollment_ID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386527" y="8968191"/>
            <a:ext cx="1293489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Certificate_ID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986044" y="2898672"/>
            <a:ext cx="984032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Course_ID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021489" y="2898672"/>
            <a:ext cx="994152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Faculty_ID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589326" y="7537411"/>
            <a:ext cx="887891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Result_ID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611303" y="2898672"/>
            <a:ext cx="843938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Batch_ID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623705" y="5925901"/>
            <a:ext cx="819134" cy="21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546" b="true">
                <a:solidFill>
                  <a:srgbClr val="091B3F"/>
                </a:solidFill>
                <a:latin typeface="Inter Medium"/>
                <a:ea typeface="Inter Medium"/>
                <a:cs typeface="Inter Medium"/>
                <a:sym typeface="Inter Medium"/>
              </a:rPr>
              <a:t>Exam_ID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78022" y="7089864"/>
            <a:ext cx="910501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RESULT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618883" y="2466186"/>
            <a:ext cx="828779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BATCH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393781" y="3619860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20658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33422" y="3619860"/>
            <a:ext cx="642937" cy="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b="true" sz="2292">
                <a:solidFill>
                  <a:srgbClr val="20658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678" y="361472"/>
            <a:ext cx="6147047" cy="100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b="true">
                <a:solidFill>
                  <a:srgbClr val="081D3F"/>
                </a:solidFill>
                <a:latin typeface="Inter Bold"/>
                <a:ea typeface="Inter Bold"/>
                <a:cs typeface="Inter Bold"/>
                <a:sym typeface="Inter Bold"/>
              </a:rPr>
              <a:t>RELATIONAL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6002" y="1355487"/>
            <a:ext cx="7014687" cy="100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b="true">
                <a:solidFill>
                  <a:srgbClr val="0D8BDA"/>
                </a:solidFill>
                <a:latin typeface="Inter Bold"/>
                <a:ea typeface="Inter Bold"/>
                <a:cs typeface="Inter Bold"/>
                <a:sym typeface="Inter Bold"/>
              </a:rPr>
              <a:t>TABLE DESIGN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350377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2569017"/>
            <a:ext cx="3062584" cy="1289974"/>
          </a:xfrm>
          <a:custGeom>
            <a:avLst/>
            <a:gdLst/>
            <a:ahLst/>
            <a:cxnLst/>
            <a:rect r="r" b="b" t="t" l="l"/>
            <a:pathLst>
              <a:path h="1289974" w="3062584">
                <a:moveTo>
                  <a:pt x="0" y="0"/>
                </a:moveTo>
                <a:lnTo>
                  <a:pt x="3062584" y="0"/>
                </a:lnTo>
                <a:lnTo>
                  <a:pt x="306258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5743" y="3143868"/>
            <a:ext cx="1471769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259464" y="2569017"/>
            <a:ext cx="5884536" cy="1289974"/>
          </a:xfrm>
          <a:custGeom>
            <a:avLst/>
            <a:gdLst/>
            <a:ahLst/>
            <a:cxnLst/>
            <a:rect r="r" b="b" t="t" l="l"/>
            <a:pathLst>
              <a:path h="1289974" w="5884536">
                <a:moveTo>
                  <a:pt x="0" y="0"/>
                </a:moveTo>
                <a:lnTo>
                  <a:pt x="5884536" y="0"/>
                </a:lnTo>
                <a:lnTo>
                  <a:pt x="5884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39947" y="2965531"/>
            <a:ext cx="3199032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Student_ID, Student_Name,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Email, Phone, DOB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6574" y="3848060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7675" y="4303553"/>
            <a:ext cx="1278556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COURSE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259464" y="3848060"/>
            <a:ext cx="5884536" cy="1300906"/>
          </a:xfrm>
          <a:custGeom>
            <a:avLst/>
            <a:gdLst/>
            <a:ahLst/>
            <a:cxnLst/>
            <a:rect r="r" b="b" t="t" l="l"/>
            <a:pathLst>
              <a:path h="1300906" w="5884536">
                <a:moveTo>
                  <a:pt x="0" y="0"/>
                </a:moveTo>
                <a:lnTo>
                  <a:pt x="5884536" y="0"/>
                </a:lnTo>
                <a:lnTo>
                  <a:pt x="5884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41304" y="4110155"/>
            <a:ext cx="3063317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Course_ID, Course_Name,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Duration, Fees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6574" y="4919394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19621" y="5433116"/>
            <a:ext cx="1083984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BATCH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259464" y="4919394"/>
            <a:ext cx="5884536" cy="1300906"/>
          </a:xfrm>
          <a:custGeom>
            <a:avLst/>
            <a:gdLst/>
            <a:ahLst/>
            <a:cxnLst/>
            <a:rect r="r" b="b" t="t" l="l"/>
            <a:pathLst>
              <a:path h="1300906" w="5884536">
                <a:moveTo>
                  <a:pt x="0" y="0"/>
                </a:moveTo>
                <a:lnTo>
                  <a:pt x="5884536" y="0"/>
                </a:lnTo>
                <a:lnTo>
                  <a:pt x="5884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33941" y="5239718"/>
            <a:ext cx="3799651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Batch_ID, Course_ID, Faculty_ID,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StartDate, EndDate, Timing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26574" y="5990729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09365" y="6592801"/>
            <a:ext cx="2109611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ENROLLMENT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259464" y="5990729"/>
            <a:ext cx="5884536" cy="1300906"/>
          </a:xfrm>
          <a:custGeom>
            <a:avLst/>
            <a:gdLst/>
            <a:ahLst/>
            <a:cxnLst/>
            <a:rect r="r" b="b" t="t" l="l"/>
            <a:pathLst>
              <a:path h="1300906" w="5884536">
                <a:moveTo>
                  <a:pt x="0" y="0"/>
                </a:moveTo>
                <a:lnTo>
                  <a:pt x="5884536" y="0"/>
                </a:lnTo>
                <a:lnTo>
                  <a:pt x="5884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041051" y="6399402"/>
            <a:ext cx="3088687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Enrollment_ID, Student_ID,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Batch_ID, EnrollmentDate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26574" y="7280704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03684" y="7722239"/>
            <a:ext cx="2677716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LAB ALLOCATION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259464" y="7280704"/>
            <a:ext cx="5884536" cy="1300906"/>
          </a:xfrm>
          <a:custGeom>
            <a:avLst/>
            <a:gdLst/>
            <a:ahLst/>
            <a:cxnLst/>
            <a:rect r="r" b="b" t="t" l="l"/>
            <a:pathLst>
              <a:path h="1300906" w="5884536">
                <a:moveTo>
                  <a:pt x="0" y="0"/>
                </a:moveTo>
                <a:lnTo>
                  <a:pt x="5884536" y="0"/>
                </a:lnTo>
                <a:lnTo>
                  <a:pt x="5884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029090" y="7544026"/>
            <a:ext cx="4284752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Allocation_ID, Batch_ID, Lab_ID,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AllocationDate, Start Time, End Time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144000" y="2569017"/>
            <a:ext cx="3051646" cy="1289974"/>
          </a:xfrm>
          <a:custGeom>
            <a:avLst/>
            <a:gdLst/>
            <a:ahLst/>
            <a:cxnLst/>
            <a:rect r="r" b="b" t="t" l="l"/>
            <a:pathLst>
              <a:path h="1289974" w="3051646">
                <a:moveTo>
                  <a:pt x="0" y="0"/>
                </a:moveTo>
                <a:lnTo>
                  <a:pt x="3051646" y="0"/>
                </a:lnTo>
                <a:lnTo>
                  <a:pt x="305164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541627" y="3143868"/>
            <a:ext cx="2206821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EXAMINATION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965952" y="2569017"/>
            <a:ext cx="5676718" cy="1289974"/>
          </a:xfrm>
          <a:custGeom>
            <a:avLst/>
            <a:gdLst/>
            <a:ahLst/>
            <a:cxnLst/>
            <a:rect r="r" b="b" t="t" l="l"/>
            <a:pathLst>
              <a:path h="1289974" w="5676718">
                <a:moveTo>
                  <a:pt x="0" y="0"/>
                </a:moveTo>
                <a:lnTo>
                  <a:pt x="5676718" y="0"/>
                </a:lnTo>
                <a:lnTo>
                  <a:pt x="5676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742655" y="2965531"/>
            <a:ext cx="3572802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Exam_ID, Batch_ID, ExamDate,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Exam Type, Total_Marks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144000" y="3848060"/>
            <a:ext cx="3051646" cy="1300906"/>
          </a:xfrm>
          <a:custGeom>
            <a:avLst/>
            <a:gdLst/>
            <a:ahLst/>
            <a:cxnLst/>
            <a:rect r="r" b="b" t="t" l="l"/>
            <a:pathLst>
              <a:path h="1300906" w="3051646">
                <a:moveTo>
                  <a:pt x="0" y="0"/>
                </a:moveTo>
                <a:lnTo>
                  <a:pt x="3051646" y="0"/>
                </a:lnTo>
                <a:lnTo>
                  <a:pt x="305164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551787" y="4303553"/>
            <a:ext cx="1190870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RESULT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1965952" y="3848060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741300" y="4110155"/>
            <a:ext cx="3708271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Result_ID, Exam_ID, Student_ID,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Marks, Status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144000" y="4919394"/>
            <a:ext cx="3051646" cy="1300906"/>
          </a:xfrm>
          <a:custGeom>
            <a:avLst/>
            <a:gdLst/>
            <a:ahLst/>
            <a:cxnLst/>
            <a:rect r="r" b="b" t="t" l="l"/>
            <a:pathLst>
              <a:path h="1300906" w="3051646">
                <a:moveTo>
                  <a:pt x="0" y="0"/>
                </a:moveTo>
                <a:lnTo>
                  <a:pt x="3051646" y="0"/>
                </a:lnTo>
                <a:lnTo>
                  <a:pt x="305164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543639" y="5433116"/>
            <a:ext cx="2005597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CERTIFICATE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965952" y="4919394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747801" y="5149353"/>
            <a:ext cx="3058145" cy="90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Certificate_ID, Student_ID,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Course_ID, Issue Date,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Certificate_No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144000" y="5990729"/>
            <a:ext cx="3051646" cy="1300906"/>
          </a:xfrm>
          <a:custGeom>
            <a:avLst/>
            <a:gdLst/>
            <a:ahLst/>
            <a:cxnLst/>
            <a:rect r="r" b="b" t="t" l="l"/>
            <a:pathLst>
              <a:path h="1300906" w="3051646">
                <a:moveTo>
                  <a:pt x="0" y="0"/>
                </a:moveTo>
                <a:lnTo>
                  <a:pt x="3051646" y="0"/>
                </a:lnTo>
                <a:lnTo>
                  <a:pt x="305164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549183" y="6592801"/>
            <a:ext cx="1451208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FACULTY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1965952" y="5990729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747580" y="6399402"/>
            <a:ext cx="3080312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Faculty_ID, Faculty_Name,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Email, Phone, Department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144000" y="7280704"/>
            <a:ext cx="3051646" cy="1300906"/>
          </a:xfrm>
          <a:custGeom>
            <a:avLst/>
            <a:gdLst/>
            <a:ahLst/>
            <a:cxnLst/>
            <a:rect r="r" b="b" t="t" l="l"/>
            <a:pathLst>
              <a:path h="1300906" w="3051646">
                <a:moveTo>
                  <a:pt x="0" y="0"/>
                </a:moveTo>
                <a:lnTo>
                  <a:pt x="3051646" y="0"/>
                </a:lnTo>
                <a:lnTo>
                  <a:pt x="305164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542504" y="7722364"/>
            <a:ext cx="211913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LABORATORY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965952" y="7280704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2756018" y="7544026"/>
            <a:ext cx="2236465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Lab_ID, Lab_Name,</a:t>
            </a:r>
          </a:p>
          <a:p>
            <a:pPr algn="l">
              <a:lnSpc>
                <a:spcPts val="2490"/>
              </a:lnSpc>
            </a:pPr>
            <a:r>
              <a:rPr lang="en-US" sz="1916">
                <a:solidFill>
                  <a:srgbClr val="081D3F"/>
                </a:solidFill>
                <a:latin typeface="Inter"/>
                <a:ea typeface="Inter"/>
                <a:cs typeface="Inter"/>
                <a:sym typeface="Inter"/>
              </a:rPr>
              <a:t>Capacity, Location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426574" y="8778386"/>
            <a:ext cx="17216096" cy="1300906"/>
          </a:xfrm>
          <a:custGeom>
            <a:avLst/>
            <a:gdLst/>
            <a:ahLst/>
            <a:cxnLst/>
            <a:rect r="r" b="b" t="t" l="l"/>
            <a:pathLst>
              <a:path h="1300906" w="17216096">
                <a:moveTo>
                  <a:pt x="0" y="0"/>
                </a:moveTo>
                <a:lnTo>
                  <a:pt x="17216096" y="0"/>
                </a:lnTo>
                <a:lnTo>
                  <a:pt x="1721609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45330" y="8997026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92294" y="8965431"/>
            <a:ext cx="7926801" cy="6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b="true">
                <a:solidFill>
                  <a:srgbClr val="0D8BD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Note:</a:t>
            </a:r>
            <a:r>
              <a:rPr lang="en-US" sz="204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Database primary key, foreign key relationships, and normalization constraints are not verified in the absence of DDL.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4122" y="1034853"/>
            <a:ext cx="8991741" cy="101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b="true" sz="7682" spc="-75">
                <a:solidFill>
                  <a:srgbClr val="142742"/>
                </a:solidFill>
                <a:latin typeface="Inter Bold"/>
                <a:ea typeface="Inter Bold"/>
                <a:cs typeface="Inter Bold"/>
                <a:sym typeface="Inter Bold"/>
              </a:rPr>
              <a:t>CORE </a:t>
            </a:r>
            <a:r>
              <a:rPr lang="en-US" b="true" sz="7682" spc="-75">
                <a:solidFill>
                  <a:srgbClr val="098DCB"/>
                </a:solidFill>
                <a:latin typeface="Inter Bold"/>
                <a:ea typeface="Inter Bold"/>
                <a:cs typeface="Inter Bold"/>
                <a:sym typeface="Inter Bold"/>
              </a:rPr>
              <a:t>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4256" y="2174606"/>
            <a:ext cx="7657223" cy="36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26" b="true">
                <a:solidFill>
                  <a:srgbClr val="3F4051"/>
                </a:solidFill>
                <a:latin typeface="Inter Medium"/>
                <a:ea typeface="Inter Medium"/>
                <a:cs typeface="Inter Medium"/>
                <a:sym typeface="Inter Medium"/>
              </a:rPr>
              <a:t>From student registration to certificate record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4066699"/>
            <a:ext cx="1531292" cy="2153601"/>
          </a:xfrm>
          <a:custGeom>
            <a:avLst/>
            <a:gdLst/>
            <a:ahLst/>
            <a:cxnLst/>
            <a:rect r="r" b="b" t="t" l="l"/>
            <a:pathLst>
              <a:path h="2153601" w="1531292">
                <a:moveTo>
                  <a:pt x="0" y="0"/>
                </a:moveTo>
                <a:lnTo>
                  <a:pt x="1531292" y="0"/>
                </a:lnTo>
                <a:lnTo>
                  <a:pt x="153129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40666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5663" y="4903824"/>
            <a:ext cx="910495" cy="53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Record</a:t>
            </a:r>
          </a:p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student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76622" y="4919394"/>
            <a:ext cx="656268" cy="448211"/>
          </a:xfrm>
          <a:custGeom>
            <a:avLst/>
            <a:gdLst/>
            <a:ahLst/>
            <a:cxnLst/>
            <a:rect r="r" b="b" t="t" l="l"/>
            <a:pathLst>
              <a:path h="448211" w="656268">
                <a:moveTo>
                  <a:pt x="0" y="0"/>
                </a:moveTo>
                <a:lnTo>
                  <a:pt x="656268" y="0"/>
                </a:lnTo>
                <a:lnTo>
                  <a:pt x="65626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3196" y="4066699"/>
            <a:ext cx="1542230" cy="2153601"/>
          </a:xfrm>
          <a:custGeom>
            <a:avLst/>
            <a:gdLst/>
            <a:ahLst/>
            <a:cxnLst/>
            <a:rect r="r" b="b" t="t" l="l"/>
            <a:pathLst>
              <a:path h="2153601" w="1542230">
                <a:moveTo>
                  <a:pt x="0" y="0"/>
                </a:moveTo>
                <a:lnTo>
                  <a:pt x="1542230" y="0"/>
                </a:lnTo>
                <a:lnTo>
                  <a:pt x="154223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3196" y="406669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74347" y="4783338"/>
            <a:ext cx="1086804" cy="80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Create course and faculty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915732" y="4919394"/>
            <a:ext cx="656268" cy="448211"/>
          </a:xfrm>
          <a:custGeom>
            <a:avLst/>
            <a:gdLst/>
            <a:ahLst/>
            <a:cxnLst/>
            <a:rect r="r" b="b" t="t" l="l"/>
            <a:pathLst>
              <a:path h="448211" w="656268">
                <a:moveTo>
                  <a:pt x="0" y="0"/>
                </a:moveTo>
                <a:lnTo>
                  <a:pt x="656268" y="0"/>
                </a:lnTo>
                <a:lnTo>
                  <a:pt x="65626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53244" y="4066699"/>
            <a:ext cx="1750048" cy="2153601"/>
          </a:xfrm>
          <a:custGeom>
            <a:avLst/>
            <a:gdLst/>
            <a:ahLst/>
            <a:cxnLst/>
            <a:rect r="r" b="b" t="t" l="l"/>
            <a:pathLst>
              <a:path h="2153601" w="1750048">
                <a:moveTo>
                  <a:pt x="0" y="0"/>
                </a:moveTo>
                <a:lnTo>
                  <a:pt x="1750048" y="0"/>
                </a:lnTo>
                <a:lnTo>
                  <a:pt x="175004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53244" y="4066699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98967" y="4791970"/>
            <a:ext cx="1302842" cy="7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7"/>
              </a:lnSpc>
            </a:pPr>
            <a:r>
              <a:rPr lang="en-US" b="true" sz="1476" spc="-1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Assign faculty/course to batch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873598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311110" y="4066699"/>
            <a:ext cx="1531292" cy="2153601"/>
          </a:xfrm>
          <a:custGeom>
            <a:avLst/>
            <a:gdLst/>
            <a:ahLst/>
            <a:cxnLst/>
            <a:rect r="r" b="b" t="t" l="l"/>
            <a:pathLst>
              <a:path h="2153601" w="1531292">
                <a:moveTo>
                  <a:pt x="0" y="0"/>
                </a:moveTo>
                <a:lnTo>
                  <a:pt x="1531292" y="0"/>
                </a:lnTo>
                <a:lnTo>
                  <a:pt x="153129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311110" y="40666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65254" y="4783337"/>
            <a:ext cx="1163218" cy="80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Enroll student into batch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12708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50220" y="4066699"/>
            <a:ext cx="1531292" cy="2153601"/>
          </a:xfrm>
          <a:custGeom>
            <a:avLst/>
            <a:gdLst/>
            <a:ahLst/>
            <a:cxnLst/>
            <a:rect r="r" b="b" t="t" l="l"/>
            <a:pathLst>
              <a:path h="2153601" w="1531292">
                <a:moveTo>
                  <a:pt x="0" y="0"/>
                </a:moveTo>
                <a:lnTo>
                  <a:pt x="1531292" y="0"/>
                </a:lnTo>
                <a:lnTo>
                  <a:pt x="153129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50220" y="406669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258027" y="4903824"/>
            <a:ext cx="1192588" cy="53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Schedule examination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351818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789330" y="4066699"/>
            <a:ext cx="1750048" cy="2153601"/>
          </a:xfrm>
          <a:custGeom>
            <a:avLst/>
            <a:gdLst/>
            <a:ahLst/>
            <a:cxnLst/>
            <a:rect r="r" b="b" t="t" l="l"/>
            <a:pathLst>
              <a:path h="2153601" w="1750048">
                <a:moveTo>
                  <a:pt x="0" y="0"/>
                </a:moveTo>
                <a:lnTo>
                  <a:pt x="1750048" y="0"/>
                </a:lnTo>
                <a:lnTo>
                  <a:pt x="175004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008086" y="40666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62110" y="4783337"/>
            <a:ext cx="856131" cy="80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Enter obtained marks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320622" y="4919394"/>
            <a:ext cx="656268" cy="448211"/>
          </a:xfrm>
          <a:custGeom>
            <a:avLst/>
            <a:gdLst/>
            <a:ahLst/>
            <a:cxnLst/>
            <a:rect r="r" b="b" t="t" l="l"/>
            <a:pathLst>
              <a:path h="448211" w="656268">
                <a:moveTo>
                  <a:pt x="0" y="0"/>
                </a:moveTo>
                <a:lnTo>
                  <a:pt x="656268" y="0"/>
                </a:lnTo>
                <a:lnTo>
                  <a:pt x="65626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747196" y="4066699"/>
            <a:ext cx="1542230" cy="2153601"/>
          </a:xfrm>
          <a:custGeom>
            <a:avLst/>
            <a:gdLst/>
            <a:ahLst/>
            <a:cxnLst/>
            <a:rect r="r" b="b" t="t" l="l"/>
            <a:pathLst>
              <a:path h="2153601" w="1542230">
                <a:moveTo>
                  <a:pt x="0" y="0"/>
                </a:moveTo>
                <a:lnTo>
                  <a:pt x="1542230" y="0"/>
                </a:lnTo>
                <a:lnTo>
                  <a:pt x="154223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747196" y="406669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050929" y="4903824"/>
            <a:ext cx="897695" cy="53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Compute status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059732" y="4919394"/>
            <a:ext cx="656268" cy="229572"/>
          </a:xfrm>
          <a:custGeom>
            <a:avLst/>
            <a:gdLst/>
            <a:ahLst/>
            <a:cxnLst/>
            <a:rect r="r" b="b" t="t" l="l"/>
            <a:pathLst>
              <a:path h="229572" w="656268">
                <a:moveTo>
                  <a:pt x="0" y="0"/>
                </a:moveTo>
                <a:lnTo>
                  <a:pt x="656268" y="0"/>
                </a:lnTo>
                <a:lnTo>
                  <a:pt x="65626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923818" y="2569017"/>
            <a:ext cx="1760986" cy="1934962"/>
          </a:xfrm>
          <a:custGeom>
            <a:avLst/>
            <a:gdLst/>
            <a:ahLst/>
            <a:cxnLst/>
            <a:rect r="r" b="b" t="t" l="l"/>
            <a:pathLst>
              <a:path h="1934962" w="1760986">
                <a:moveTo>
                  <a:pt x="0" y="0"/>
                </a:moveTo>
                <a:lnTo>
                  <a:pt x="1760986" y="0"/>
                </a:lnTo>
                <a:lnTo>
                  <a:pt x="176098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497244" y="3421712"/>
            <a:ext cx="656268" cy="3224936"/>
          </a:xfrm>
          <a:custGeom>
            <a:avLst/>
            <a:gdLst/>
            <a:ahLst/>
            <a:cxnLst/>
            <a:rect r="r" b="b" t="t" l="l"/>
            <a:pathLst>
              <a:path h="3224936" w="656268">
                <a:moveTo>
                  <a:pt x="0" y="0"/>
                </a:moveTo>
                <a:lnTo>
                  <a:pt x="656268" y="0"/>
                </a:lnTo>
                <a:lnTo>
                  <a:pt x="65626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923818" y="5564382"/>
            <a:ext cx="1760986" cy="1945894"/>
          </a:xfrm>
          <a:custGeom>
            <a:avLst/>
            <a:gdLst/>
            <a:ahLst/>
            <a:cxnLst/>
            <a:rect r="r" b="b" t="t" l="l"/>
            <a:pathLst>
              <a:path h="1945894" w="1760986">
                <a:moveTo>
                  <a:pt x="0" y="0"/>
                </a:moveTo>
                <a:lnTo>
                  <a:pt x="1760986" y="0"/>
                </a:lnTo>
                <a:lnTo>
                  <a:pt x="1760986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455110" y="4919394"/>
            <a:ext cx="875024" cy="1727254"/>
          </a:xfrm>
          <a:custGeom>
            <a:avLst/>
            <a:gdLst/>
            <a:ahLst/>
            <a:cxnLst/>
            <a:rect r="r" b="b" t="t" l="l"/>
            <a:pathLst>
              <a:path h="1727254" w="875024">
                <a:moveTo>
                  <a:pt x="0" y="0"/>
                </a:moveTo>
                <a:lnTo>
                  <a:pt x="875024" y="0"/>
                </a:lnTo>
                <a:lnTo>
                  <a:pt x="87502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319196" y="4066699"/>
            <a:ext cx="1542230" cy="2153601"/>
          </a:xfrm>
          <a:custGeom>
            <a:avLst/>
            <a:gdLst/>
            <a:ahLst/>
            <a:cxnLst/>
            <a:rect r="r" b="b" t="t" l="l"/>
            <a:pathLst>
              <a:path h="2153601" w="1542230">
                <a:moveTo>
                  <a:pt x="0" y="0"/>
                </a:moveTo>
                <a:lnTo>
                  <a:pt x="1542230" y="0"/>
                </a:lnTo>
                <a:lnTo>
                  <a:pt x="154223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319196" y="40666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571043" y="4677912"/>
            <a:ext cx="989858" cy="10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b="true" sz="1546" spc="-1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Create course certificate record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64086" y="7925691"/>
            <a:ext cx="16997340" cy="1508614"/>
          </a:xfrm>
          <a:custGeom>
            <a:avLst/>
            <a:gdLst/>
            <a:ahLst/>
            <a:cxnLst/>
            <a:rect r="r" b="b" t="t" l="l"/>
            <a:pathLst>
              <a:path h="1508614" w="16997340">
                <a:moveTo>
                  <a:pt x="0" y="0"/>
                </a:moveTo>
                <a:lnTo>
                  <a:pt x="16997340" y="0"/>
                </a:lnTo>
                <a:lnTo>
                  <a:pt x="16997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50573" y="8205435"/>
            <a:ext cx="10851263" cy="90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 spc="-22" b="true">
                <a:solidFill>
                  <a:srgbClr val="1427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Certificate issuing form </a:t>
            </a:r>
            <a:r>
              <a:rPr lang="en-US" sz="2351" spc="-22" b="true">
                <a:solidFill>
                  <a:srgbClr val="098DC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does NOT</a:t>
            </a:r>
            <a:r>
              <a:rPr lang="en-US" sz="2351" spc="-22" b="true">
                <a:solidFill>
                  <a:srgbClr val="1427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automatically check pass status.</a:t>
            </a:r>
          </a:p>
          <a:p>
            <a:pPr algn="l">
              <a:lnSpc>
                <a:spcPts val="3760"/>
              </a:lnSpc>
            </a:pPr>
            <a:r>
              <a:rPr lang="en-US" sz="2351" spc="-22" b="true">
                <a:solidFill>
                  <a:srgbClr val="14274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 auto-awarding functionality. Results do not enforce certificate eligibility.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0468" y="4288548"/>
            <a:ext cx="95591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831524" y="4288548"/>
            <a:ext cx="143214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678062" y="4288548"/>
            <a:ext cx="147028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96135" y="4288548"/>
            <a:ext cx="154195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324091" y="4288548"/>
            <a:ext cx="141596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16068" y="4288548"/>
            <a:ext cx="147375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45353" y="4288548"/>
            <a:ext cx="132117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491865" y="4288548"/>
            <a:ext cx="147375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1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3751" y="311594"/>
            <a:ext cx="8313145" cy="121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4"/>
              </a:lnSpc>
            </a:pPr>
            <a:r>
              <a:rPr lang="en-US" b="true" sz="7124" spc="142">
                <a:solidFill>
                  <a:srgbClr val="082441"/>
                </a:solidFill>
                <a:latin typeface="Inter Bold"/>
                <a:ea typeface="Inter Bold"/>
                <a:cs typeface="Inter Bold"/>
                <a:sym typeface="Inter Bold"/>
              </a:rPr>
              <a:t>LAB &amp; TIMETABLE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6517" y="1260427"/>
            <a:ext cx="7036590" cy="121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4"/>
              </a:lnSpc>
            </a:pPr>
            <a:r>
              <a:rPr lang="en-US" b="true" sz="7124" spc="142">
                <a:solidFill>
                  <a:srgbClr val="34B0EC"/>
                </a:solidFill>
                <a:latin typeface="Inter Bold"/>
                <a:ea typeface="Inter Bold"/>
                <a:cs typeface="Inter Bold"/>
                <a:sym typeface="Inter Bold"/>
              </a:rPr>
              <a:t>MANAGEMENT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3281340" cy="1300906"/>
          </a:xfrm>
          <a:custGeom>
            <a:avLst/>
            <a:gdLst/>
            <a:ahLst/>
            <a:cxnLst/>
            <a:rect r="r" b="b" t="t" l="l"/>
            <a:pathLst>
              <a:path h="1300906" w="3281340">
                <a:moveTo>
                  <a:pt x="0" y="0"/>
                </a:moveTo>
                <a:lnTo>
                  <a:pt x="3281340" y="0"/>
                </a:lnTo>
                <a:lnTo>
                  <a:pt x="3281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6516" y="3192408"/>
            <a:ext cx="1828595" cy="35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b="true" sz="204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LABORATORY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54847" y="2981556"/>
            <a:ext cx="2424700" cy="70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36465B"/>
                </a:solidFill>
                <a:latin typeface="Inter"/>
                <a:ea typeface="Inter"/>
                <a:cs typeface="Inter"/>
                <a:sym typeface="Inter"/>
              </a:rPr>
              <a:t>Lab_ID, Lab_Name,</a:t>
            </a:r>
          </a:p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36465B"/>
                </a:solidFill>
                <a:latin typeface="Inter"/>
                <a:ea typeface="Inter"/>
                <a:cs typeface="Inter"/>
                <a:sym typeface="Inter"/>
              </a:rPr>
              <a:t>Capacity, Location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3848060"/>
            <a:ext cx="8717426" cy="229572"/>
          </a:xfrm>
          <a:custGeom>
            <a:avLst/>
            <a:gdLst/>
            <a:ahLst/>
            <a:cxnLst/>
            <a:rect r="r" b="b" t="t" l="l"/>
            <a:pathLst>
              <a:path h="229572" w="8717426">
                <a:moveTo>
                  <a:pt x="0" y="0"/>
                </a:moveTo>
                <a:lnTo>
                  <a:pt x="8717426" y="0"/>
                </a:lnTo>
                <a:lnTo>
                  <a:pt x="8717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5330" y="4066699"/>
            <a:ext cx="3281340" cy="1300906"/>
          </a:xfrm>
          <a:custGeom>
            <a:avLst/>
            <a:gdLst/>
            <a:ahLst/>
            <a:cxnLst/>
            <a:rect r="r" b="b" t="t" l="l"/>
            <a:pathLst>
              <a:path h="1300906" w="3281340">
                <a:moveTo>
                  <a:pt x="0" y="0"/>
                </a:moveTo>
                <a:lnTo>
                  <a:pt x="3281340" y="0"/>
                </a:lnTo>
                <a:lnTo>
                  <a:pt x="328134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54082" y="4517762"/>
            <a:ext cx="2333463" cy="35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b="true" sz="204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LAB ALLOCATION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31882" y="4306910"/>
            <a:ext cx="4721214" cy="70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36465B"/>
                </a:solidFill>
                <a:latin typeface="Inter"/>
                <a:ea typeface="Inter"/>
                <a:cs typeface="Inter"/>
                <a:sym typeface="Inter"/>
              </a:rPr>
              <a:t>Links Batch_ID to Lab_ID with Allocation,Date, Start Time, End Time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5138034"/>
            <a:ext cx="8717426" cy="229572"/>
          </a:xfrm>
          <a:custGeom>
            <a:avLst/>
            <a:gdLst/>
            <a:ahLst/>
            <a:cxnLst/>
            <a:rect r="r" b="b" t="t" l="l"/>
            <a:pathLst>
              <a:path h="229572" w="8717426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330" y="5356674"/>
            <a:ext cx="3281340" cy="1289974"/>
          </a:xfrm>
          <a:custGeom>
            <a:avLst/>
            <a:gdLst/>
            <a:ahLst/>
            <a:cxnLst/>
            <a:rect r="r" b="b" t="t" l="l"/>
            <a:pathLst>
              <a:path h="1289974" w="3281340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59429" y="5812994"/>
            <a:ext cx="922768" cy="35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b="true" sz="204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BATCH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1417" y="5602143"/>
            <a:ext cx="3767635" cy="70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36465B"/>
                </a:solidFill>
                <a:latin typeface="Inter"/>
                <a:ea typeface="Inter"/>
                <a:cs typeface="Inter"/>
                <a:sym typeface="Inter"/>
              </a:rPr>
              <a:t>Stores StartDate, EndDate, Timing, Course_ID, Faculty_ID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6428009"/>
            <a:ext cx="8717426" cy="437279"/>
          </a:xfrm>
          <a:custGeom>
            <a:avLst/>
            <a:gdLst/>
            <a:ahLst/>
            <a:cxnLst/>
            <a:rect r="r" b="b" t="t" l="l"/>
            <a:pathLst>
              <a:path h="437279" w="8717426">
                <a:moveTo>
                  <a:pt x="0" y="0"/>
                </a:moveTo>
                <a:lnTo>
                  <a:pt x="8717426" y="0"/>
                </a:lnTo>
                <a:lnTo>
                  <a:pt x="871742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5330" y="6635716"/>
            <a:ext cx="3281340" cy="1300906"/>
          </a:xfrm>
          <a:custGeom>
            <a:avLst/>
            <a:gdLst/>
            <a:ahLst/>
            <a:cxnLst/>
            <a:rect r="r" b="b" t="t" l="l"/>
            <a:pathLst>
              <a:path h="1300906" w="3281340">
                <a:moveTo>
                  <a:pt x="0" y="0"/>
                </a:moveTo>
                <a:lnTo>
                  <a:pt x="3281340" y="0"/>
                </a:lnTo>
                <a:lnTo>
                  <a:pt x="328134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14639" y="7108226"/>
            <a:ext cx="2212348" cy="35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b="true" sz="204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SMART QUERIES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37805" y="6897375"/>
            <a:ext cx="4128845" cy="70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36465B"/>
                </a:solidFill>
                <a:latin typeface="Inter"/>
                <a:ea typeface="Inter"/>
                <a:cs typeface="Inter"/>
                <a:sym typeface="Inter"/>
              </a:rPr>
              <a:t>SQL joins display named course, lab, and faculty instead of IDs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45330" y="8133399"/>
            <a:ext cx="8936182" cy="1727254"/>
          </a:xfrm>
          <a:custGeom>
            <a:avLst/>
            <a:gdLst/>
            <a:ahLst/>
            <a:cxnLst/>
            <a:rect r="r" b="b" t="t" l="l"/>
            <a:pathLst>
              <a:path h="1727254" w="8936182">
                <a:moveTo>
                  <a:pt x="0" y="0"/>
                </a:moveTo>
                <a:lnTo>
                  <a:pt x="8936182" y="0"/>
                </a:lnTo>
                <a:lnTo>
                  <a:pt x="8936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59086" y="8338682"/>
            <a:ext cx="7500938" cy="110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188" b="true">
                <a:solidFill>
                  <a:srgbClr val="1875B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IMPORTANT CAVEAT:</a:t>
            </a:r>
            <a:r>
              <a:rPr lang="en-US" sz="2188" b="true">
                <a:solidFill>
                  <a:srgbClr val="0824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No collision validation, capacity checks, or automated timetable conflict prevention. These are not implemented.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570574" y="2142670"/>
            <a:ext cx="8290852" cy="7717983"/>
          </a:xfrm>
          <a:custGeom>
            <a:avLst/>
            <a:gdLst/>
            <a:ahLst/>
            <a:cxnLst/>
            <a:rect r="r" b="b" t="t" l="l"/>
            <a:pathLst>
              <a:path h="7717983" w="8290852">
                <a:moveTo>
                  <a:pt x="0" y="0"/>
                </a:moveTo>
                <a:lnTo>
                  <a:pt x="8290852" y="0"/>
                </a:lnTo>
                <a:lnTo>
                  <a:pt x="8290852" y="7717982"/>
                </a:lnTo>
                <a:lnTo>
                  <a:pt x="0" y="7717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93780" cy="3858991"/>
          </a:xfrm>
          <a:custGeom>
            <a:avLst/>
            <a:gdLst/>
            <a:ahLst/>
            <a:cxnLst/>
            <a:rect r="r" b="b" t="t" l="l"/>
            <a:pathLst>
              <a:path h="3858991" w="1093780">
                <a:moveTo>
                  <a:pt x="0" y="0"/>
                </a:moveTo>
                <a:lnTo>
                  <a:pt x="1093780" y="0"/>
                </a:lnTo>
                <a:lnTo>
                  <a:pt x="109378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9196" y="2350377"/>
            <a:ext cx="1968804" cy="7936623"/>
          </a:xfrm>
          <a:custGeom>
            <a:avLst/>
            <a:gdLst/>
            <a:ahLst/>
            <a:cxnLst/>
            <a:rect r="r" b="b" t="t" l="l"/>
            <a:pathLst>
              <a:path h="7936623" w="1968804">
                <a:moveTo>
                  <a:pt x="0" y="0"/>
                </a:moveTo>
                <a:lnTo>
                  <a:pt x="1968804" y="0"/>
                </a:lnTo>
                <a:lnTo>
                  <a:pt x="1968804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81681" y="536604"/>
            <a:ext cx="8456096" cy="102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1"/>
              </a:lnSpc>
            </a:pPr>
            <a:r>
              <a:rPr lang="en-US" sz="7531" b="true">
                <a:solidFill>
                  <a:srgbClr val="F8F8F8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DBMS CONCEPTS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6112" y="1505267"/>
            <a:ext cx="4013063" cy="104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8"/>
              </a:lnSpc>
            </a:pPr>
            <a:r>
              <a:rPr lang="en-US" sz="7638" b="true">
                <a:solidFill>
                  <a:srgbClr val="07A1E8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IN CODE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2842" y="2776725"/>
            <a:ext cx="9373694" cy="6438940"/>
          </a:xfrm>
          <a:custGeom>
            <a:avLst/>
            <a:gdLst/>
            <a:ahLst/>
            <a:cxnLst/>
            <a:rect r="r" b="b" t="t" l="l"/>
            <a:pathLst>
              <a:path h="6438940" w="9373694">
                <a:moveTo>
                  <a:pt x="0" y="0"/>
                </a:moveTo>
                <a:lnTo>
                  <a:pt x="9373694" y="0"/>
                </a:lnTo>
                <a:lnTo>
                  <a:pt x="9373694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62169" y="4097369"/>
            <a:ext cx="6480732" cy="109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575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SELECT</a:t>
            </a:r>
            <a:r>
              <a:rPr lang="en-US" sz="25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Enrollment_ID,  Student_Name, Course_Name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9060" y="5482553"/>
            <a:ext cx="3791654" cy="42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1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FROM</a:t>
            </a:r>
            <a:r>
              <a:rPr lang="en-US" sz="26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ENROLLMENT  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851" y="6128020"/>
            <a:ext cx="8812576" cy="43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6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JOIN</a:t>
            </a:r>
            <a:r>
              <a:rPr lang="en-US" sz="25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STUDENT  S  </a:t>
            </a:r>
            <a:r>
              <a:rPr lang="en-US" sz="2526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ON</a:t>
            </a:r>
            <a:r>
              <a:rPr lang="en-US" sz="25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E.STUDENT_ID  =  S.STUDENT_ID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4747" y="6770202"/>
            <a:ext cx="8222960" cy="44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JOIN</a:t>
            </a: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BATCH  B   </a:t>
            </a:r>
            <a:r>
              <a:rPr lang="en-US" sz="2707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ON</a:t>
            </a: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E.BATCH_ID  =  B.BATCH_ID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9512" y="7407622"/>
            <a:ext cx="8746457" cy="45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654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JOIN</a:t>
            </a:r>
            <a:r>
              <a:rPr lang="en-US" sz="26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COURSE  C  </a:t>
            </a:r>
            <a:r>
              <a:rPr lang="en-US" sz="2654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ON</a:t>
            </a:r>
            <a:r>
              <a:rPr lang="en-US" sz="26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BCOURSE_ID  =  CCOURSE_ID;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50552" y="1747924"/>
            <a:ext cx="6158851" cy="3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sz="2153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SELECT COUNT(*)</a:t>
            </a:r>
            <a:r>
              <a:rPr lang="en-US" sz="21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FOR DASHBOARD COUNTS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320622" y="2350377"/>
            <a:ext cx="6103292" cy="229572"/>
          </a:xfrm>
          <a:custGeom>
            <a:avLst/>
            <a:gdLst/>
            <a:ahLst/>
            <a:cxnLst/>
            <a:rect r="r" b="b" t="t" l="l"/>
            <a:pathLst>
              <a:path h="229572" w="6103292">
                <a:moveTo>
                  <a:pt x="0" y="0"/>
                </a:moveTo>
                <a:lnTo>
                  <a:pt x="6103292" y="0"/>
                </a:lnTo>
                <a:lnTo>
                  <a:pt x="6103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371709" y="2711660"/>
            <a:ext cx="4043179" cy="77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INSERT  INTO</a:t>
            </a:r>
            <a:r>
              <a:rPr lang="en-US" sz="22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WITH %S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PARAMETER PLACEHOLDERS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320622" y="3640352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82050" y="4052634"/>
            <a:ext cx="3009100" cy="77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267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COMMIT</a:t>
            </a:r>
            <a:r>
              <a:rPr lang="en-US" sz="22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PERSIST</a:t>
            </a:r>
          </a:p>
          <a:p>
            <a:pPr algn="l">
              <a:lnSpc>
                <a:spcPts val="3175"/>
              </a:lnSpc>
            </a:pPr>
            <a:r>
              <a:rPr lang="en-US" sz="22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NEW RECORDS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320622" y="5138034"/>
            <a:ext cx="6103292" cy="229572"/>
          </a:xfrm>
          <a:custGeom>
            <a:avLst/>
            <a:gdLst/>
            <a:ahLst/>
            <a:cxnLst/>
            <a:rect r="r" b="b" t="t" l="l"/>
            <a:pathLst>
              <a:path h="229572" w="6103292">
                <a:moveTo>
                  <a:pt x="0" y="0"/>
                </a:moveTo>
                <a:lnTo>
                  <a:pt x="6103292" y="0"/>
                </a:lnTo>
                <a:lnTo>
                  <a:pt x="6103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373045" y="5389788"/>
            <a:ext cx="3909517" cy="42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ORDER  BY</a:t>
            </a: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FOR LISTINGS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320622" y="5990729"/>
            <a:ext cx="6103292" cy="229572"/>
          </a:xfrm>
          <a:custGeom>
            <a:avLst/>
            <a:gdLst/>
            <a:ahLst/>
            <a:cxnLst/>
            <a:rect r="r" b="b" t="t" l="l"/>
            <a:pathLst>
              <a:path h="229572" w="6103292">
                <a:moveTo>
                  <a:pt x="0" y="0"/>
                </a:moveTo>
                <a:lnTo>
                  <a:pt x="6103292" y="0"/>
                </a:lnTo>
                <a:lnTo>
                  <a:pt x="6103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376575" y="6406230"/>
            <a:ext cx="3556584" cy="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New IDs generated via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56696" y="6884131"/>
            <a:ext cx="5544467" cy="808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5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SELECT COALESCE(MAX(ID), 0)+1</a:t>
            </a:r>
          </a:p>
          <a:p>
            <a:pPr algn="l">
              <a:lnSpc>
                <a:spcPts val="3298"/>
              </a:lnSpc>
            </a:pPr>
            <a:r>
              <a:rPr lang="en-US" sz="23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DIFFERENT STARTING OFFSETS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320622" y="7925691"/>
            <a:ext cx="6103292" cy="218640"/>
          </a:xfrm>
          <a:custGeom>
            <a:avLst/>
            <a:gdLst/>
            <a:ahLst/>
            <a:cxnLst/>
            <a:rect r="r" b="b" t="t" l="l"/>
            <a:pathLst>
              <a:path h="218640" w="6103292">
                <a:moveTo>
                  <a:pt x="0" y="0"/>
                </a:moveTo>
                <a:lnTo>
                  <a:pt x="6103292" y="0"/>
                </a:lnTo>
                <a:lnTo>
                  <a:pt x="6103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367845" y="8253488"/>
            <a:ext cx="4429579" cy="121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Routes support </a:t>
            </a:r>
            <a:r>
              <a:rPr lang="en-US" sz="2399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list</a:t>
            </a: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399" b="true">
                <a:solidFill>
                  <a:srgbClr val="07A1E8"/>
                </a:solidFill>
                <a:latin typeface="Inter Bold"/>
                <a:ea typeface="Inter Bold"/>
                <a:cs typeface="Inter Bold"/>
                <a:sym typeface="Inter Bold"/>
              </a:rPr>
              <a:t>create</a:t>
            </a: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operations only; no update or delete implemented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264" y="646212"/>
            <a:ext cx="10646266" cy="8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6746" b="true">
                <a:solidFill>
                  <a:srgbClr val="061F3D"/>
                </a:solidFill>
                <a:latin typeface="Inter Bold"/>
                <a:ea typeface="Inter Bold"/>
                <a:cs typeface="Inter Bold"/>
                <a:sym typeface="Inter Bold"/>
              </a:rPr>
              <a:t>OUTCOME, LIMITATIONS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7167" y="1648554"/>
            <a:ext cx="6255997" cy="89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8"/>
              </a:lnSpc>
            </a:pPr>
            <a:r>
              <a:rPr lang="en-US" sz="6888" b="true">
                <a:solidFill>
                  <a:srgbClr val="0698E1"/>
                </a:solidFill>
                <a:latin typeface="Inter Bold"/>
                <a:ea typeface="Inter Bold"/>
                <a:cs typeface="Inter Bold"/>
                <a:sym typeface="Inter Bold"/>
              </a:rPr>
              <a:t>&amp; NEXT STEPS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569017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2995365"/>
            <a:ext cx="4145426" cy="863627"/>
          </a:xfrm>
          <a:custGeom>
            <a:avLst/>
            <a:gdLst/>
            <a:ahLst/>
            <a:cxnLst/>
            <a:rect r="r" b="b" t="t" l="l"/>
            <a:pathLst>
              <a:path h="863627" w="4145426">
                <a:moveTo>
                  <a:pt x="0" y="0"/>
                </a:moveTo>
                <a:lnTo>
                  <a:pt x="4145426" y="0"/>
                </a:lnTo>
                <a:lnTo>
                  <a:pt x="414542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2956" y="3227842"/>
            <a:ext cx="1250877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863" spc="-1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OUTCOME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3640352"/>
            <a:ext cx="229694" cy="4722618"/>
          </a:xfrm>
          <a:custGeom>
            <a:avLst/>
            <a:gdLst/>
            <a:ahLst/>
            <a:cxnLst/>
            <a:rect r="r" b="b" t="t" l="l"/>
            <a:pathLst>
              <a:path h="4722618" w="229694">
                <a:moveTo>
                  <a:pt x="0" y="0"/>
                </a:moveTo>
                <a:lnTo>
                  <a:pt x="229694" y="0"/>
                </a:lnTo>
                <a:lnTo>
                  <a:pt x="22969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5017" y="4086533"/>
            <a:ext cx="2260028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Routes/forms lists for</a:t>
            </a:r>
          </a:p>
          <a:p>
            <a:pPr algn="l">
              <a:lnSpc>
                <a:spcPts val="2610"/>
              </a:lnSpc>
            </a:pPr>
            <a:r>
              <a:rPr lang="en-US" sz="1740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10 management areas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2343" y="5758287"/>
            <a:ext cx="1527447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Relational joins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2231" y="6467262"/>
            <a:ext cx="2538611" cy="60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Exam threshold logic</a:t>
            </a:r>
          </a:p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and certificate-entry form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72000" y="2995365"/>
            <a:ext cx="4572000" cy="863627"/>
          </a:xfrm>
          <a:custGeom>
            <a:avLst/>
            <a:gdLst/>
            <a:ahLst/>
            <a:cxnLst/>
            <a:rect r="r" b="b" t="t" l="l"/>
            <a:pathLst>
              <a:path h="863627" w="4572000">
                <a:moveTo>
                  <a:pt x="0" y="0"/>
                </a:moveTo>
                <a:lnTo>
                  <a:pt x="4572000" y="0"/>
                </a:lnTo>
                <a:lnTo>
                  <a:pt x="457200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13207" y="3220089"/>
            <a:ext cx="1631265" cy="34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b="true" sz="1924" spc="-1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LIMITATIONS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72000" y="3640352"/>
            <a:ext cx="218756" cy="4722618"/>
          </a:xfrm>
          <a:custGeom>
            <a:avLst/>
            <a:gdLst/>
            <a:ahLst/>
            <a:cxnLst/>
            <a:rect r="r" b="b" t="t" l="l"/>
            <a:pathLst>
              <a:path h="4722618" w="218756">
                <a:moveTo>
                  <a:pt x="0" y="0"/>
                </a:moveTo>
                <a:lnTo>
                  <a:pt x="218756" y="0"/>
                </a:lnTo>
                <a:lnTo>
                  <a:pt x="21875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56396" y="4010671"/>
            <a:ext cx="3352612" cy="60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SQL DDL and data absent from ZIP; schema constraints unverified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66469" y="4846827"/>
            <a:ext cx="2345301" cy="29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No edit or delete routes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58070" y="5366147"/>
            <a:ext cx="3185219" cy="60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Manual MAX+1 ID generation can collide under concurrent inserts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56184" y="6219929"/>
            <a:ext cx="3373835" cy="8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15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No validation of marks ≤ total, lab allocation overlaps, enrollment membership, or certificate eligibility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59635" y="7370912"/>
            <a:ext cx="3028651" cy="60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Flask debug=True and no user</a:t>
            </a:r>
          </a:p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login in supplied code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144000" y="2995365"/>
            <a:ext cx="4572000" cy="863627"/>
          </a:xfrm>
          <a:custGeom>
            <a:avLst/>
            <a:gdLst/>
            <a:ahLst/>
            <a:cxnLst/>
            <a:rect r="r" b="b" t="t" l="l"/>
            <a:pathLst>
              <a:path h="863627" w="4572000">
                <a:moveTo>
                  <a:pt x="0" y="0"/>
                </a:moveTo>
                <a:lnTo>
                  <a:pt x="4572000" y="0"/>
                </a:lnTo>
                <a:lnTo>
                  <a:pt x="457200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16028" y="3220089"/>
            <a:ext cx="1530689" cy="34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b="true" sz="1924" spc="-1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NEXT STEPS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0" y="3640352"/>
            <a:ext cx="218756" cy="4722618"/>
          </a:xfrm>
          <a:custGeom>
            <a:avLst/>
            <a:gdLst/>
            <a:ahLst/>
            <a:cxnLst/>
            <a:rect r="r" b="b" t="t" l="l"/>
            <a:pathLst>
              <a:path h="4722618" w="218756">
                <a:moveTo>
                  <a:pt x="0" y="0"/>
                </a:moveTo>
                <a:lnTo>
                  <a:pt x="218756" y="0"/>
                </a:lnTo>
                <a:lnTo>
                  <a:pt x="21875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32061" y="4055575"/>
            <a:ext cx="3163383" cy="6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696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Implement SQL constraints and</a:t>
            </a:r>
          </a:p>
          <a:p>
            <a:pPr algn="l">
              <a:lnSpc>
                <a:spcPts val="2544"/>
              </a:lnSpc>
            </a:pPr>
            <a:r>
              <a:rPr lang="en-US" sz="1696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auto-increment IDs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37545" y="5539626"/>
            <a:ext cx="2614991" cy="29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Role-based authentication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8321" y="6729432"/>
            <a:ext cx="3537388" cy="29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Deployment hardening and security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0" y="8352038"/>
            <a:ext cx="13289426" cy="1934962"/>
          </a:xfrm>
          <a:custGeom>
            <a:avLst/>
            <a:gdLst/>
            <a:ahLst/>
            <a:cxnLst/>
            <a:rect r="r" b="b" t="t" l="l"/>
            <a:pathLst>
              <a:path h="1934962" w="13289426">
                <a:moveTo>
                  <a:pt x="0" y="0"/>
                </a:moveTo>
                <a:lnTo>
                  <a:pt x="13289426" y="0"/>
                </a:lnTo>
                <a:lnTo>
                  <a:pt x="1328942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26574" y="8778386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19328" y="8916563"/>
            <a:ext cx="7186685" cy="81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31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This is a </a:t>
            </a:r>
            <a:r>
              <a:rPr lang="en-US" sz="2311" b="true">
                <a:solidFill>
                  <a:srgbClr val="0698E1"/>
                </a:solidFill>
                <a:latin typeface="Inter Bold"/>
                <a:ea typeface="Inter Bold"/>
                <a:cs typeface="Inter Bold"/>
                <a:sym typeface="Inter Bold"/>
              </a:rPr>
              <a:t>code-reviewed project</a:t>
            </a:r>
            <a:r>
              <a:rPr lang="en-US" sz="231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</a:t>
            </a:r>
          </a:p>
          <a:p>
            <a:pPr algn="l">
              <a:lnSpc>
                <a:spcPts val="3236"/>
              </a:lnSpc>
            </a:pPr>
            <a:r>
              <a:rPr lang="en-US" sz="231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not evidence of end-to-end database-run testing.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622220" y="0"/>
            <a:ext cx="5665780" cy="10287000"/>
          </a:xfrm>
          <a:custGeom>
            <a:avLst/>
            <a:gdLst/>
            <a:ahLst/>
            <a:cxnLst/>
            <a:rect r="r" b="b" t="t" l="l"/>
            <a:pathLst>
              <a:path h="10287000" w="5665780">
                <a:moveTo>
                  <a:pt x="0" y="0"/>
                </a:moveTo>
                <a:lnTo>
                  <a:pt x="5665780" y="0"/>
                </a:lnTo>
                <a:lnTo>
                  <a:pt x="5665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529938" y="6142059"/>
            <a:ext cx="3375728" cy="29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652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Editing and reporting functionality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9220" y="5079712"/>
            <a:ext cx="1839722" cy="31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696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Dashboard counts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43793" y="4959225"/>
            <a:ext cx="1990222" cy="31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696" spc="-16">
                <a:solidFill>
                  <a:srgbClr val="061F3D"/>
                </a:solidFill>
                <a:latin typeface="Inter"/>
                <a:ea typeface="Inter"/>
                <a:cs typeface="Inter"/>
                <a:sym typeface="Inter"/>
              </a:rPr>
              <a:t>Add input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DAHXtk8ayVo</dc:identifier>
  <dcterms:modified xsi:type="dcterms:W3CDTF">2011-08-01T06:04:30Z</dcterms:modified>
  <cp:revision>1</cp:revision>
  <dc:title>Computer Institute DBMS</dc:title>
</cp:coreProperties>
</file>